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0" y="1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Azul" type="title">
  <p:cSld name="TITLE">
    <p:bg>
      <p:bgPr>
        <a:solidFill>
          <a:srgbClr val="1D1D3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Retícula Azul" type="secHead">
  <p:cSld name="SECTION_HEADER">
    <p:bg>
      <p:bgPr>
        <a:solidFill>
          <a:srgbClr val="1D1D3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Azul">
  <p:cSld name="SECTION_HEADER_1">
    <p:bg>
      <p:bgPr>
        <a:solidFill>
          <a:srgbClr val="1D1D3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blanc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24" name="Google Shape;24;p5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Blanca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263725" y="1010213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cxnSp>
        <p:nvCxnSpPr>
          <p:cNvPr id="30" name="Google Shape;30;p6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V1" type="tx">
  <p:cSld name="TITLE_AND_BODY">
    <p:bg>
      <p:bgPr>
        <a:solidFill>
          <a:srgbClr val="1D1D3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00625" y="1080550"/>
            <a:ext cx="3831600" cy="17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5" name="Google Shape;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7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691850" y="863538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V2">
  <p:cSld name="TITLE_AND_BODY_1">
    <p:bg>
      <p:bgPr>
        <a:solidFill>
          <a:srgbClr val="1D1D3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372875" y="889888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D1D30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440300" cy="16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1D1D3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4876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4417075" y="1311300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200"/>
              <a:buChar char="●"/>
              <a:defRPr sz="2200" b="1">
                <a:solidFill>
                  <a:srgbClr val="161625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600"/>
              <a:buChar char="○"/>
              <a:defRPr sz="1600">
                <a:solidFill>
                  <a:srgbClr val="161625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400"/>
              <a:buChar char="■"/>
              <a:defRPr>
                <a:solidFill>
                  <a:srgbClr val="161625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200"/>
              <a:buChar char="●"/>
              <a:defRPr sz="1200">
                <a:solidFill>
                  <a:srgbClr val="161625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000"/>
              <a:buChar char="○"/>
              <a:defRPr sz="1000">
                <a:solidFill>
                  <a:srgbClr val="161625"/>
                </a:solidFill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900"/>
              <a:buChar char="■"/>
              <a:defRPr sz="900">
                <a:solidFill>
                  <a:srgbClr val="161625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800"/>
              <a:buChar char="●"/>
              <a:defRPr sz="800">
                <a:solidFill>
                  <a:srgbClr val="161625"/>
                </a:solidFill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700"/>
              <a:buChar char="○"/>
              <a:defRPr sz="700">
                <a:solidFill>
                  <a:srgbClr val="161625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500"/>
              <a:buChar char="■"/>
              <a:defRPr sz="500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55" name="Google Shape;5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57" name="Google Shape;57;p10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blanca">
  <p:cSld name="MAIN_POINT">
    <p:bg>
      <p:bgPr>
        <a:solidFill>
          <a:srgbClr val="1D1D30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62" name="Google Shape;62;p11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amarilla">
  <p:cSld name="MAIN_POINT_1">
    <p:bg>
      <p:bgPr>
        <a:solidFill>
          <a:srgbClr val="1D1D3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67" name="Google Shape;67;p12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" type="blank">
  <p:cSld name="BLANK">
    <p:bg>
      <p:bgPr>
        <a:solidFill>
          <a:srgbClr val="1D1D30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KeepcodingColores_RGB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50" y="1453825"/>
            <a:ext cx="7480151" cy="22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www.keepcoding.io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cursos@keepcoding.io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highlight>
                  <a:srgbClr val="161625"/>
                </a:highlight>
              </a:rPr>
              <a:t>(+34) 916 33 1779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D1D3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4050" y="1017713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  <a:defRPr sz="700">
                <a:solidFill>
                  <a:schemeClr val="lt1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 sz="600">
                <a:solidFill>
                  <a:schemeClr val="lt1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Char char="■"/>
              <a:defRPr sz="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solidFill>
                  <a:schemeClr val="bg1"/>
                </a:solidFill>
              </a:rPr>
              <a:t>Clase 1 · NLP &amp; Searching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 dirty="0" err="1">
                <a:solidFill>
                  <a:srgbClr val="FF743B"/>
                </a:solidFill>
              </a:rPr>
              <a:t>Preprocesado</a:t>
            </a:r>
            <a:r>
              <a:rPr sz="2000" b="1" dirty="0">
                <a:solidFill>
                  <a:srgbClr val="FF743B"/>
                </a:solidFill>
              </a:rPr>
              <a:t> y </a:t>
            </a:r>
            <a:r>
              <a:rPr sz="2000" b="1" dirty="0" err="1">
                <a:solidFill>
                  <a:srgbClr val="FF743B"/>
                </a:solidFill>
              </a:rPr>
              <a:t>limpieza</a:t>
            </a:r>
            <a:r>
              <a:rPr sz="2000" b="1" dirty="0">
                <a:solidFill>
                  <a:srgbClr val="FF743B"/>
                </a:solidFill>
              </a:rPr>
              <a:t> de </a:t>
            </a:r>
            <a:r>
              <a:rPr sz="2000" b="1" dirty="0" err="1">
                <a:solidFill>
                  <a:srgbClr val="FF743B"/>
                </a:solidFill>
              </a:rPr>
              <a:t>texto</a:t>
            </a:r>
            <a:r>
              <a:rPr sz="2000" b="1" dirty="0">
                <a:solidFill>
                  <a:srgbClr val="FF743B"/>
                </a:solidFill>
              </a:rPr>
              <a:t> · 4h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FF743B"/>
                </a:solidFill>
              </a:rPr>
              <a:t>Agenda de la </a:t>
            </a:r>
            <a:r>
              <a:rPr sz="3600" b="1" dirty="0" err="1">
                <a:solidFill>
                  <a:srgbClr val="FF743B"/>
                </a:solidFill>
              </a:rPr>
              <a:t>clase</a:t>
            </a:r>
            <a:endParaRPr sz="3600" b="1" dirty="0">
              <a:solidFill>
                <a:srgbClr val="FF743B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 dirty="0">
                <a:solidFill>
                  <a:srgbClr val="161625"/>
                </a:solidFill>
              </a:rPr>
              <a:t>Notebooks 1 a 4 + intro al 5 · </a:t>
            </a:r>
            <a:r>
              <a:rPr lang="es-ES" sz="2000" dirty="0">
                <a:solidFill>
                  <a:srgbClr val="161625"/>
                </a:solidFill>
              </a:rPr>
              <a:t>1</a:t>
            </a:r>
            <a:r>
              <a:rPr sz="2000" dirty="0">
                <a:solidFill>
                  <a:srgbClr val="161625"/>
                </a:solidFill>
              </a:rPr>
              <a:t> </a:t>
            </a:r>
            <a:r>
              <a:rPr sz="2000" dirty="0" err="1">
                <a:solidFill>
                  <a:srgbClr val="161625"/>
                </a:solidFill>
              </a:rPr>
              <a:t>descansos</a:t>
            </a:r>
            <a:endParaRPr sz="2000" dirty="0">
              <a:solidFill>
                <a:srgbClr val="16162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Reglas del juego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 dirty="0">
                <a:solidFill>
                  <a:srgbClr val="161625"/>
                </a:solidFill>
              </a:rPr>
              <a:t>Parad la </a:t>
            </a:r>
            <a:r>
              <a:rPr sz="1800" dirty="0" err="1">
                <a:solidFill>
                  <a:srgbClr val="161625"/>
                </a:solidFill>
              </a:rPr>
              <a:t>clase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cuando</a:t>
            </a:r>
            <a:r>
              <a:rPr sz="1800" dirty="0">
                <a:solidFill>
                  <a:srgbClr val="161625"/>
                </a:solidFill>
              </a:rPr>
              <a:t> algo no se </a:t>
            </a:r>
            <a:r>
              <a:rPr sz="1800" dirty="0" err="1">
                <a:solidFill>
                  <a:srgbClr val="161625"/>
                </a:solidFill>
              </a:rPr>
              <a:t>entienda</a:t>
            </a:r>
            <a:endParaRPr sz="1800" dirty="0">
              <a:solidFill>
                <a:srgbClr val="161625"/>
              </a:solidFill>
            </a:endParaRPr>
          </a:p>
          <a:p>
            <a:r>
              <a:rPr sz="1800" dirty="0" err="1">
                <a:solidFill>
                  <a:srgbClr val="161625"/>
                </a:solidFill>
              </a:rPr>
              <a:t>Intentad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seguir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el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código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en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vuestra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máquina</a:t>
            </a:r>
            <a:endParaRPr sz="1800" dirty="0">
              <a:solidFill>
                <a:srgbClr val="161625"/>
              </a:solidFill>
            </a:endParaRPr>
          </a:p>
          <a:p>
            <a:r>
              <a:rPr sz="1800" dirty="0">
                <a:solidFill>
                  <a:srgbClr val="161625"/>
                </a:solidFill>
              </a:rPr>
              <a:t>Los notebooks con </a:t>
            </a:r>
            <a:r>
              <a:rPr sz="1800" dirty="0" err="1">
                <a:solidFill>
                  <a:srgbClr val="161625"/>
                </a:solidFill>
              </a:rPr>
              <a:t>explicaciones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detalladas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están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en</a:t>
            </a:r>
            <a:r>
              <a:rPr sz="1800" dirty="0">
                <a:solidFill>
                  <a:srgbClr val="161625"/>
                </a:solidFill>
              </a:rPr>
              <a:t> </a:t>
            </a:r>
            <a:r>
              <a:rPr sz="1800" dirty="0" err="1">
                <a:solidFill>
                  <a:srgbClr val="161625"/>
                </a:solidFill>
              </a:rPr>
              <a:t>notebooks_explicados</a:t>
            </a:r>
            <a:r>
              <a:rPr sz="1800" dirty="0">
                <a:solidFill>
                  <a:srgbClr val="161625"/>
                </a:solidFill>
              </a:rPr>
              <a:t>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Bloque 0 · ¿Qué es NLP?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Teoría rápida antes de tocar código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Definición de NLP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NLP = intersección entre lingüística, estadística e ingeniería</a:t>
            </a:r>
          </a:p>
          <a:p>
            <a:r>
              <a:rPr sz="1800">
                <a:solidFill>
                  <a:srgbClr val="161625"/>
                </a:solidFill>
              </a:rPr>
              <a:t>Objetivo: que una máquina lea, entienda, manipule y genere lenguaje humano</a:t>
            </a:r>
          </a:p>
          <a:p>
            <a:r>
              <a:rPr sz="1800">
                <a:solidFill>
                  <a:srgbClr val="161625"/>
                </a:solidFill>
              </a:rPr>
              <a:t>Está en ChatGPT, Google Search, Copilot, autocompletados, filtros de spam…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Anécdota: ELIZA (MIT, 1966) fue el primer chatbot — terapia rogeriana a base de regex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0:10 – 0:15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Por qué NLP es difícil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Polisemia, ironía, negación, variabilidad</a:t>
            </a:r>
          </a:p>
          <a:p>
            <a:r>
              <a:rPr sz="1800">
                <a:solidFill>
                  <a:srgbClr val="161625"/>
                </a:solidFill>
              </a:rPr>
              <a:t>Multiplicado por todos los idiomas</a:t>
            </a:r>
          </a:p>
          <a:p>
            <a:r>
              <a:rPr sz="1800">
                <a:solidFill>
                  <a:srgbClr val="161625"/>
                </a:solidFill>
              </a:rPr>
              <a:t>Necesitamos un pipeline ordenado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Ejemplo: 'qué buena idea ir a la playa con esta lluvia' (en tono sarcástico)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0:15 – 0:20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Pipeline NLP en 4 etapas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1. Adquisición / corpus</a:t>
            </a:r>
          </a:p>
          <a:p>
            <a:r>
              <a:rPr sz="1800">
                <a:solidFill>
                  <a:srgbClr val="161625"/>
                </a:solidFill>
              </a:rPr>
              <a:t>2. Preprocesado  ← hoy vivimos aquí</a:t>
            </a:r>
          </a:p>
          <a:p>
            <a:r>
              <a:rPr sz="1800">
                <a:solidFill>
                  <a:srgbClr val="161625"/>
                </a:solidFill>
              </a:rPr>
              <a:t>3. Representación (features / embeddings)</a:t>
            </a:r>
          </a:p>
          <a:p>
            <a:r>
              <a:rPr sz="1800">
                <a:solidFill>
                  <a:srgbClr val="161625"/>
                </a:solidFill>
              </a:rPr>
              <a:t>4. Modelado y evaluación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Si la etapa 2 falla, la 3 y la 4 colapsan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0:20 – 0:25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1315" y="573146"/>
            <a:ext cx="4600576" cy="1737300"/>
          </a:xfrm>
        </p:spPr>
        <p:txBody>
          <a:bodyPr/>
          <a:lstStyle/>
          <a:p>
            <a:r>
              <a:rPr sz="2600" b="1" dirty="0">
                <a:solidFill>
                  <a:srgbClr val="161625"/>
                </a:solidFill>
              </a:rPr>
              <a:t>Pipeline NLP · </a:t>
            </a:r>
            <a:r>
              <a:rPr sz="2600" b="1" dirty="0" err="1">
                <a:solidFill>
                  <a:srgbClr val="161625"/>
                </a:solidFill>
              </a:rPr>
              <a:t>visión</a:t>
            </a:r>
            <a:r>
              <a:rPr sz="2600" b="1" dirty="0">
                <a:solidFill>
                  <a:srgbClr val="161625"/>
                </a:solidFill>
              </a:rPr>
              <a:t> global</a:t>
            </a:r>
          </a:p>
        </p:txBody>
      </p:sp>
      <p:pic>
        <p:nvPicPr>
          <p:cNvPr id="4" name="Picture 3" descr="01_pipeline_n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83" y="1483359"/>
            <a:ext cx="7863840" cy="23992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770823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595959"/>
                </a:solidFill>
              </a:rPr>
              <a:t>Hoy nos centramos en la etapa 2: preprocesado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0:20 – 0:25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La práctica final del módulo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Vamos a verla YA para entender hacia dónde vamos</a:t>
            </a:r>
          </a:p>
          <a:p>
            <a:r>
              <a:rPr sz="1800">
                <a:solidFill>
                  <a:srgbClr val="161625"/>
                </a:solidFill>
              </a:rPr>
              <a:t>Archivos: practica/Practica_final_NLP.pdf · Resumen_Practica_Final.md</a:t>
            </a:r>
          </a:p>
          <a:p>
            <a:r>
              <a:rPr sz="1800">
                <a:solidFill>
                  <a:srgbClr val="161625"/>
                </a:solidFill>
              </a:rPr>
              <a:t>Mensaje clave: NO se busca el F1 perfecto — se busca que los pasos sean razonables y justificados</a:t>
            </a:r>
          </a:p>
          <a:p>
            <a:r>
              <a:rPr sz="1800">
                <a:solidFill>
                  <a:srgbClr val="161625"/>
                </a:solidFill>
              </a:rPr>
              <a:t>Recordar fechas y canal de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0:25 – 0:30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1 · Preprocesado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55 min · base de todo lo que viene después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1 · Preprocesado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notebooks/01 - Preprocesado.ipynb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Si te agobia tipear, abre la versión de notebooks_explicados/</a:t>
            </a:r>
          </a:p>
          <a:p>
            <a:r>
              <a:rPr sz="1600">
                <a:solidFill>
                  <a:srgbClr val="161625"/>
                </a:solidFill>
              </a:rPr>
              <a:t>•  Empezamos cargando reviews_dict y mirando una review sin limpiar</a:t>
            </a:r>
          </a:p>
          <a:p>
            <a:r>
              <a:rPr sz="1600">
                <a:solidFill>
                  <a:srgbClr val="161625"/>
                </a:solidFill>
              </a:rPr>
              <a:t>•  Pregunta al alumnado: ¿qué problemas veis para un modelo que cuente palabras?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0:30 – 0:35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Tokenización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review.split('.')  → frases</a:t>
            </a:r>
          </a:p>
          <a:p>
            <a:r>
              <a:rPr sz="1800">
                <a:solidFill>
                  <a:srgbClr val="161625"/>
                </a:solidFill>
              </a:rPr>
              <a:t>sentence.split(' ')  → palabras</a:t>
            </a:r>
          </a:p>
          <a:p>
            <a:r>
              <a:rPr sz="1800">
                <a:solidFill>
                  <a:srgbClr val="161625"/>
                </a:solidFill>
              </a:rPr>
              <a:t>¿Qué problemas tiene .split(' ')?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'principal,'  queda como un token con coma pegada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'   '.split(' ')  → tokens vacíos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0:35 – 0:45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01 - Preprocesado.ipynb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Normalización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lower, strip, regex, translate</a:t>
            </a:r>
          </a:p>
          <a:p>
            <a:r>
              <a:rPr sz="1800">
                <a:solidFill>
                  <a:srgbClr val="161625"/>
                </a:solidFill>
              </a:rPr>
              <a:t>Concepto clave: str.maketrans + .translate() es mucho más rápido que un bucle con replace</a:t>
            </a:r>
          </a:p>
          <a:p>
            <a:r>
              <a:rPr sz="1800">
                <a:solidFill>
                  <a:srgbClr val="161625"/>
                </a:solidFill>
              </a:rPr>
              <a:t>Con 100k reviews, la diferencia se nota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Demo viva: %timeit translate vs replace en bucle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0:45 – 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01 - Preprocesado.ipynb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Stopwords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stop_words.get_stop_words('es')</a:t>
            </a:r>
          </a:p>
          <a:p>
            <a:r>
              <a:rPr sz="1800">
                <a:solidFill>
                  <a:srgbClr val="161625"/>
                </a:solidFill>
              </a:rPr>
              <a:t>Aplicar a una frase y observar resultado</a:t>
            </a:r>
          </a:p>
          <a:p>
            <a:r>
              <a:rPr sz="1800">
                <a:solidFill>
                  <a:srgbClr val="161625"/>
                </a:solidFill>
              </a:rPr>
              <a:t>Momento estrella: 'no me gusta esta película' → 'gusta película'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¿Qué le acabamos de hacer al sentimiento? El preprocesado deja de parecer trivial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1:00 – 1:15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01 - Preprocesado.ipynb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Lemmatization y pipeline final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Cargar lemmas_dict y lematizar la frase</a:t>
            </a:r>
          </a:p>
          <a:p>
            <a:r>
              <a:rPr sz="1800">
                <a:solidFill>
                  <a:srgbClr val="161625"/>
                </a:solidFill>
              </a:rPr>
              <a:t>El error de 'cinco' → 'cincar' (los diccionarios externos NO son perfectos)</a:t>
            </a:r>
          </a:p>
          <a:p>
            <a:r>
              <a:rPr sz="1800">
                <a:solidFill>
                  <a:srgbClr val="161625"/>
                </a:solidFill>
              </a:rPr>
              <a:t>Cerrar con la función text_normalizer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1:15 – 1:25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01 - Preprocesado.ipynb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2 · spaCy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45 min · la herramienta industrial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2 · spaCy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notebooks/02 - Spacy.ipynb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Filosofía NLTK vs spaCy: NLTK te da 5 tokenizers para que elijas; spaCy te da uno bueno y se acabó</a:t>
            </a:r>
          </a:p>
          <a:p>
            <a:r>
              <a:rPr sz="1600">
                <a:solidFill>
                  <a:srgbClr val="161625"/>
                </a:solidFill>
              </a:rPr>
              <a:t>•  Herramienta que vais a usar el resto de vuestra vida en NLP profesional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1:40 – 1:45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El pipeline de spaCy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doc = nlp_es('Mi nombre es Cristina y vivo en Barcelona.')</a:t>
            </a:r>
          </a:p>
          <a:p>
            <a:r>
              <a:rPr sz="1800">
                <a:solidFill>
                  <a:srgbClr val="161625"/>
                </a:solidFill>
              </a:rPr>
              <a:t>Iterar tokens y mostrar: .text, .lemma_, .pos_, .dep_, .is_stop</a:t>
            </a:r>
          </a:p>
          <a:p>
            <a:r>
              <a:rPr sz="1800">
                <a:solidFill>
                  <a:srgbClr val="161625"/>
                </a:solidFill>
              </a:rPr>
              <a:t>En UNA sola pasada tienes TODO  ← esto es lo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1:45 – 1:55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02 - Spacy.ipynb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POS tags y dependencias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Tabla de POS tags universales</a:t>
            </a:r>
          </a:p>
          <a:p>
            <a:r>
              <a:rPr sz="1800">
                <a:solidFill>
                  <a:srgbClr val="161625"/>
                </a:solidFill>
              </a:rPr>
              <a:t>displacy.render(doc, style='dep', jupyter=True)  ← muy visual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En producción: extracción de relaciones para grafos de conocimiento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1:55 – 2:05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02 - Spacy.ipynb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NER (Named Entity Recognition)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Ejemplo ES: 'Jim compró 300 acciones de Acme Corp. en 2006'</a:t>
            </a:r>
          </a:p>
          <a:p>
            <a:r>
              <a:rPr sz="1800">
                <a:solidFill>
                  <a:srgbClr val="161625"/>
                </a:solidFill>
              </a:rPr>
              <a:t>displacy.render(style='ent')</a:t>
            </a:r>
          </a:p>
          <a:p>
            <a:r>
              <a:rPr sz="1800">
                <a:solidFill>
                  <a:srgbClr val="161625"/>
                </a:solidFill>
              </a:rPr>
              <a:t>Ejemplo trampa EN: 'Paris Hilton stayed at the Hilton in Paris'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Caso real: extraer entidades de CVs, contratos, facturas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2:05 – 2:15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02 - Spacy.ipynb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625"/>
                </a:solidFill>
              </a:rPr>
              <a:t>NER · ejemplo en vivo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02_ner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21237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95338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595959"/>
                </a:solidFill>
              </a:rPr>
              <a:t>Tres tipos de entidad: PER (persona), ORG (organización),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2:05 – 2:15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02 - Spacy.ipynb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Similitud con vectores de spaCy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Cargar nlp_es_md (necesita estar descargado)</a:t>
            </a:r>
          </a:p>
          <a:p>
            <a:r>
              <a:rPr sz="1800">
                <a:solidFill>
                  <a:srgbClr val="161625"/>
                </a:solidFill>
              </a:rPr>
              <a:t>Comparar verde / azul / mariposa</a:t>
            </a:r>
          </a:p>
          <a:p>
            <a:r>
              <a:rPr sz="1800">
                <a:solidFill>
                  <a:srgbClr val="161625"/>
                </a:solidFill>
              </a:rPr>
              <a:t>Mensaje clave: la similitud es DISTRIBUCIONAL, no semántica fina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'bueno' y 'malo' salen cercanos. En clase 5 lo solucionamos con 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2:15 – 2:25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02 - Spacy.ipynb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3 · NLTK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30 min · el clásico que todavía conviene conocer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3 · NLTK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notebooks/03 - NLTK.ipynb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Si spaCy es Tesla, NLTK es el Volkswagen Golf</a:t>
            </a:r>
          </a:p>
          <a:p>
            <a:r>
              <a:rPr sz="1600">
                <a:solidFill>
                  <a:srgbClr val="161625"/>
                </a:solidFill>
              </a:rPr>
              <a:t>•  Para sent_tokenize y Snowball stemmer sigue siendo lo mejor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2:25 – 2:30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Tokenizers de NLTK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nltk.download('punkt_tab')  y  sent_tokenize</a:t>
            </a:r>
          </a:p>
          <a:p>
            <a:r>
              <a:rPr sz="1800">
                <a:solidFill>
                  <a:srgbClr val="161625"/>
                </a:solidFill>
              </a:rPr>
              <a:t>Compara sent_tokenize vs text.split('.') en una review compleja</a:t>
            </a:r>
          </a:p>
          <a:p>
            <a:r>
              <a:rPr sz="1800">
                <a:solidFill>
                  <a:srgbClr val="161625"/>
                </a:solidFill>
              </a:rPr>
              <a:t>RegexpTokenizer(r'\w+')  → opción más limpia para español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2:30 – 2:40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03 - NLTK.ipynb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Stemming con Snowball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SpanishStemmer de Snowball</a:t>
            </a:r>
          </a:p>
          <a:p>
            <a:r>
              <a:rPr sz="1800">
                <a:solidFill>
                  <a:srgbClr val="161625"/>
                </a:solidFill>
              </a:rPr>
              <a:t>Probar: corriendo, corrió, corredor, correré, casas, cantábamos, cantar</a:t>
            </a:r>
          </a:p>
          <a:p>
            <a:r>
              <a:rPr sz="1800">
                <a:solidFill>
                  <a:srgbClr val="161625"/>
                </a:solidFill>
              </a:rPr>
              <a:t>Comparar con lematización del NB1: lo mismo o casi, pero mucho más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2:40 – 2:50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03 - NLTK.ipynb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WordNet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En español NO funciona bien</a:t>
            </a:r>
          </a:p>
          <a:p>
            <a:r>
              <a:rPr sz="1800">
                <a:solidFill>
                  <a:srgbClr val="161625"/>
                </a:solidFill>
              </a:rPr>
              <a:t>En inglés sí</a:t>
            </a:r>
          </a:p>
          <a:p>
            <a:r>
              <a:rPr sz="1800">
                <a:solidFill>
                  <a:srgbClr val="161625"/>
                </a:solidFill>
              </a:rPr>
              <a:t>Para español, spaCy gana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2:50 – 2:55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03 - NLTK.ipynb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4 · Spelling Corrector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30 min · 30 líneas de Python, bayes puro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4 · Spelling Corrector (Norvig)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notebooks/04 - Spelling Corrector (Norvig).ipynb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30 líneas de Python para corregir typos con probabilidad bayesiana</a:t>
            </a:r>
          </a:p>
          <a:p>
            <a:r>
              <a:rPr sz="1600">
                <a:solidFill>
                  <a:srgbClr val="161625"/>
                </a:solidFill>
              </a:rPr>
              <a:t>•  Autor: Peter Norvig (ex-Director de Calidad de Búsqueda en Google)</a:t>
            </a:r>
          </a:p>
          <a:p>
            <a:r>
              <a:rPr sz="1600">
                <a:solidFill>
                  <a:srgbClr val="161625"/>
                </a:solidFill>
              </a:rPr>
              <a:t>•  Lectura obligatoria: https://norvig.com/spell-correct.html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3:10 – 3:15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Bayes en pizarra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arg max P(c|w) = arg max P(w|c) · P(c)</a:t>
            </a:r>
          </a:p>
          <a:p>
            <a:r>
              <a:rPr sz="1800">
                <a:solidFill>
                  <a:srgbClr val="161625"/>
                </a:solidFill>
              </a:rPr>
              <a:t>P(c) → modelo de lenguaje (frecuencia en corpus)</a:t>
            </a:r>
          </a:p>
          <a:p>
            <a:r>
              <a:rPr sz="1800">
                <a:solidFill>
                  <a:srgbClr val="161625"/>
                </a:solidFill>
              </a:rPr>
              <a:t>P(w|c) → modelo de error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Este esquema bayesiano lo verás en spam, traducción y buscadores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3:15 – 3:20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04 - Spelling Corrector (Norvig).ipynb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Implementación celda a celda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Counter con el corpus de cine</a:t>
            </a:r>
          </a:p>
          <a:p>
            <a:r>
              <a:rPr sz="1800">
                <a:solidFill>
                  <a:srgbClr val="161625"/>
                </a:solidFill>
              </a:rPr>
              <a:t>edits1 paso a paso: delete, transpose, replace, insert</a:t>
            </a:r>
          </a:p>
          <a:p>
            <a:r>
              <a:rPr sz="1800">
                <a:solidFill>
                  <a:srgbClr val="161625"/>
                </a:solidFill>
              </a:rPr>
              <a:t>~400 candidatos a distancia 1 · ~160.000 a distancia 2 → filtrar con known()</a:t>
            </a:r>
          </a:p>
          <a:p>
            <a:r>
              <a:rPr sz="1800">
                <a:solidFill>
                  <a:srgbClr val="161625"/>
                </a:solidFill>
              </a:rPr>
              <a:t>correction('pelicul')  → magia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3:20 – 3:30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04 - Spelling Corrector (Norvig).ipynb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Limitaciones y alternativas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Demo con typos preparados: cime, bueena, perona, entrida</a:t>
            </a:r>
          </a:p>
          <a:p>
            <a:r>
              <a:rPr sz="1800">
                <a:solidFill>
                  <a:srgbClr val="161625"/>
                </a:solidFill>
              </a:rPr>
              <a:t>Alternativas modernas: SymSpell, Hunspell, seq2seq</a:t>
            </a:r>
          </a:p>
          <a:p>
            <a:r>
              <a:rPr sz="1800">
                <a:solidFill>
                  <a:srgbClr val="161625"/>
                </a:solidFill>
              </a:rPr>
              <a:t>Cuándo cada 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3:30 – 3:40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04 - Spelling Corrector (Norvig).ipynb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5 · Teaser de Matching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15 min · enlace con la clase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5 · Matching (intro)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notebooks/05 - Matching.ipynb  (o notebooks_explicados/05 - Matching (intro - explicado).ipynb)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Regex · Levenshtein con jellyfish · Soundex / Metaphone</a:t>
            </a:r>
          </a:p>
          <a:p>
            <a:r>
              <a:rPr sz="1600">
                <a:solidFill>
                  <a:srgbClr val="161625"/>
                </a:solidFill>
              </a:rPr>
              <a:t>•  Lo que hicimos con Norvig es el caso particular más sencillo</a:t>
            </a:r>
          </a:p>
          <a:p>
            <a:r>
              <a:rPr sz="1600">
                <a:solidFill>
                  <a:srgbClr val="161625"/>
                </a:solidFill>
              </a:rPr>
              <a:t>•  Próxima clase: matching completo + autocompletador de títulos tolerante a typos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3:40 – 3:55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743B"/>
                </a:solidFill>
              </a:rPr>
              <a:t>Cierre · Ideas clave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161625"/>
                </a:solidFill>
              </a:rPr>
              <a:t>1. El preprocesado es el CIMIENTO — lo siguiente es decoración</a:t>
            </a:r>
          </a:p>
          <a:p>
            <a:r>
              <a:rPr sz="1800">
                <a:solidFill>
                  <a:srgbClr val="161625"/>
                </a:solidFill>
              </a:rPr>
              <a:t>2. Tokenizar y normalizar bien evita 90% de los errores posteriores</a:t>
            </a:r>
          </a:p>
          <a:p>
            <a:r>
              <a:rPr sz="1800">
                <a:solidFill>
                  <a:srgbClr val="161625"/>
                </a:solidFill>
              </a:rPr>
              <a:t>3. Cuidado con las stopwords cuando importa la negación</a:t>
            </a:r>
          </a:p>
          <a:p>
            <a:r>
              <a:rPr sz="1800">
                <a:solidFill>
                  <a:srgbClr val="161625"/>
                </a:solidFill>
              </a:rPr>
              <a:t>4. spaCy es el caballo de batalla en producción</a:t>
            </a:r>
          </a:p>
          <a:p>
            <a:r>
              <a:rPr sz="1800">
                <a:solidFill>
                  <a:srgbClr val="161625"/>
                </a:solidFill>
              </a:rPr>
              <a:t>5. Bayes es una idea muy potente con muy pocas líneas</a:t>
            </a:r>
          </a:p>
          <a:p>
            <a:endParaRPr sz="1800">
              <a:solidFill>
                <a:srgbClr val="161625"/>
              </a:solidFill>
            </a:endParaRPr>
          </a:p>
          <a:p>
            <a:r>
              <a:rPr sz="1600" i="1">
                <a:solidFill>
                  <a:srgbClr val="FF743B"/>
                </a:solidFill>
              </a:rPr>
              <a:t>Próxima clase: Matching completo · Visualización · NER con CRFs · BoW y TF-IDF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1504</Words>
  <Application>Microsoft Office PowerPoint</Application>
  <PresentationFormat>Presentación en pantalla (16:9)</PresentationFormat>
  <Paragraphs>185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9" baseType="lpstr">
      <vt:lpstr>Arial</vt:lpstr>
      <vt:lpstr>Calibri</vt:lpstr>
      <vt:lpstr>Consolas</vt:lpstr>
      <vt:lpstr>Simple Light</vt:lpstr>
      <vt:lpstr>Clase 1 · NLP &amp; Searching</vt:lpstr>
      <vt:lpstr>Agenda de la clase</vt:lpstr>
      <vt:lpstr>Reglas del juego</vt:lpstr>
      <vt:lpstr>Bloque 0 · ¿Qué es NLP?</vt:lpstr>
      <vt:lpstr>Definición de NLP</vt:lpstr>
      <vt:lpstr>Por qué NLP es difícil</vt:lpstr>
      <vt:lpstr>Pipeline NLP en 4 etapas</vt:lpstr>
      <vt:lpstr>Pipeline NLP · visión global</vt:lpstr>
      <vt:lpstr>La práctica final del módulo</vt:lpstr>
      <vt:lpstr>Notebook 1 · Preprocesado</vt:lpstr>
      <vt:lpstr>Presentación de PowerPoint</vt:lpstr>
      <vt:lpstr>Tokenización</vt:lpstr>
      <vt:lpstr>Normalización</vt:lpstr>
      <vt:lpstr>Stopwords</vt:lpstr>
      <vt:lpstr>Lemmatization y pipeline final</vt:lpstr>
      <vt:lpstr>Notebook 2 · spaCy</vt:lpstr>
      <vt:lpstr>Presentación de PowerPoint</vt:lpstr>
      <vt:lpstr>El pipeline de spaCy</vt:lpstr>
      <vt:lpstr>POS tags y dependencias</vt:lpstr>
      <vt:lpstr>NER (Named Entity Recognition)</vt:lpstr>
      <vt:lpstr>NER · ejemplo en vivo</vt:lpstr>
      <vt:lpstr>Similitud con vectores de spaCy</vt:lpstr>
      <vt:lpstr>Notebook 3 · NLTK</vt:lpstr>
      <vt:lpstr>Presentación de PowerPoint</vt:lpstr>
      <vt:lpstr>Tokenizers de NLTK</vt:lpstr>
      <vt:lpstr>Stemming con Snowball</vt:lpstr>
      <vt:lpstr>WordNet</vt:lpstr>
      <vt:lpstr>Notebook 4 · Spelling Corrector</vt:lpstr>
      <vt:lpstr>Presentación de PowerPoint</vt:lpstr>
      <vt:lpstr>Bayes en pizarra</vt:lpstr>
      <vt:lpstr>Implementación celda a celda</vt:lpstr>
      <vt:lpstr>Limitaciones y alternativas</vt:lpstr>
      <vt:lpstr>Notebook 5 · Teaser de Matching</vt:lpstr>
      <vt:lpstr>Presentación de PowerPoint</vt:lpstr>
      <vt:lpstr>Cierre · Ideas clave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 mayol orell</cp:lastModifiedBy>
  <cp:revision>3</cp:revision>
  <dcterms:modified xsi:type="dcterms:W3CDTF">2026-05-18T20:59:58Z</dcterms:modified>
</cp:coreProperties>
</file>