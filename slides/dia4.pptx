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32"/>
  </p:notesMasterIdLst>
  <p:sldIdLst>
    <p:sldId id="256" r:id="rId2"/>
    <p:sldId id="281" r:id="rId3"/>
    <p:sldId id="260" r:id="rId4"/>
    <p:sldId id="261" r:id="rId5"/>
    <p:sldId id="262" r:id="rId6"/>
    <p:sldId id="282" r:id="rId7"/>
    <p:sldId id="283" r:id="rId8"/>
    <p:sldId id="284" r:id="rId9"/>
    <p:sldId id="263" r:id="rId10"/>
    <p:sldId id="264" r:id="rId11"/>
    <p:sldId id="285" r:id="rId12"/>
    <p:sldId id="286" r:id="rId13"/>
    <p:sldId id="265" r:id="rId14"/>
    <p:sldId id="267" r:id="rId15"/>
    <p:sldId id="268" r:id="rId16"/>
    <p:sldId id="269" r:id="rId17"/>
    <p:sldId id="287" r:id="rId18"/>
    <p:sldId id="270" r:id="rId19"/>
    <p:sldId id="288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89" r:id="rId28"/>
    <p:sldId id="278" r:id="rId29"/>
    <p:sldId id="279" r:id="rId30"/>
    <p:sldId id="280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04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Azul" type="title">
  <p:cSld name="TITLE">
    <p:bg>
      <p:bgPr>
        <a:solidFill>
          <a:srgbClr val="1D1D3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Retícula Azul" type="secHead">
  <p:cSld name="SECTION_HEADER">
    <p:bg>
      <p:bgPr>
        <a:solidFill>
          <a:srgbClr val="1D1D3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Azul">
  <p:cSld name="SECTION_HEADER_1">
    <p:bg>
      <p:bgPr>
        <a:solidFill>
          <a:srgbClr val="1D1D3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blanc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24" name="Google Shape;24;p5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Blanca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263725" y="1010213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cxnSp>
        <p:nvCxnSpPr>
          <p:cNvPr id="30" name="Google Shape;30;p6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V1" type="tx">
  <p:cSld name="TITLE_AND_BODY">
    <p:bg>
      <p:bgPr>
        <a:solidFill>
          <a:srgbClr val="1D1D30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00625" y="1080550"/>
            <a:ext cx="3831600" cy="17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5" name="Google Shape;3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p7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691850" y="863538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V2">
  <p:cSld name="TITLE_AND_BODY_1">
    <p:bg>
      <p:bgPr>
        <a:solidFill>
          <a:srgbClr val="1D1D3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41" name="Google Shape;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43" name="Google Shape;43;p8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372875" y="889888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1D1D30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440300" cy="16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48" name="Google Shape;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1D1D30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0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4876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4417075" y="1311300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200"/>
              <a:buChar char="●"/>
              <a:defRPr sz="2200" b="1">
                <a:solidFill>
                  <a:srgbClr val="161625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600"/>
              <a:buChar char="○"/>
              <a:defRPr sz="1600">
                <a:solidFill>
                  <a:srgbClr val="161625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400"/>
              <a:buChar char="■"/>
              <a:defRPr>
                <a:solidFill>
                  <a:srgbClr val="161625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200"/>
              <a:buChar char="●"/>
              <a:defRPr sz="1200">
                <a:solidFill>
                  <a:srgbClr val="161625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000"/>
              <a:buChar char="○"/>
              <a:defRPr sz="1000">
                <a:solidFill>
                  <a:srgbClr val="161625"/>
                </a:solidFill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900"/>
              <a:buChar char="■"/>
              <a:defRPr sz="900">
                <a:solidFill>
                  <a:srgbClr val="161625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800"/>
              <a:buChar char="●"/>
              <a:defRPr sz="800">
                <a:solidFill>
                  <a:srgbClr val="161625"/>
                </a:solidFill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700"/>
              <a:buChar char="○"/>
              <a:defRPr sz="700">
                <a:solidFill>
                  <a:srgbClr val="161625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500"/>
              <a:buChar char="■"/>
              <a:defRPr sz="500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55" name="Google Shape;5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57" name="Google Shape;57;p10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blanca">
  <p:cSld name="MAIN_POINT">
    <p:bg>
      <p:bgPr>
        <a:solidFill>
          <a:srgbClr val="1D1D30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62" name="Google Shape;62;p11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amarilla">
  <p:cSld name="MAIN_POINT_1">
    <p:bg>
      <p:bgPr>
        <a:solidFill>
          <a:srgbClr val="1D1D3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67" name="Google Shape;67;p12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" type="blank">
  <p:cSld name="BLANK">
    <p:bg>
      <p:bgPr>
        <a:solidFill>
          <a:srgbClr val="1D1D30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KeepcodingColores_RGB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050" y="1453825"/>
            <a:ext cx="7480151" cy="22199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www.keepcoding.io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cursos@keepcoding.io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highlight>
                  <a:srgbClr val="161625"/>
                </a:highlight>
              </a:rPr>
              <a:t>(+34) 916 33 1779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D1D3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4050" y="1017713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  <a:defRPr sz="700">
                <a:solidFill>
                  <a:schemeClr val="lt1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 sz="600">
                <a:solidFill>
                  <a:schemeClr val="lt1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Char char="■"/>
              <a:defRPr sz="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dirty="0">
                <a:solidFill>
                  <a:schemeClr val="bg1"/>
                </a:solidFill>
              </a:rPr>
              <a:t>Clase 4 · NLP &amp; Searching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solidFill>
                  <a:srgbClr val="FF743B"/>
                </a:solidFill>
              </a:rPr>
              <a:t>Word Embeddings · 4h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onehot_vs_d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98162"/>
            <a:ext cx="4251960" cy="39437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731520"/>
            <a:ext cx="4206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743B"/>
                </a:solidFill>
                <a:latin typeface="Arial"/>
              </a:rPr>
              <a:t>¿Qué es un word embedding?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2212848"/>
            <a:ext cx="420624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One-hot: vector de tamaño |V|, un 1 y el resto ceros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'gato' queda tan lejos de 'perro' como de 'piano': sin noción de parecido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Embedding denso: 100–300 números continuos que capturan significado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Palabras parecidas → vectores cercanos (medible con coseno)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11 · Word2Vec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85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11 · Word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notebooks/11 - Word Embeddings.ipynb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Word2Vec entrenado sobre el corpus de los Simpson</a:t>
            </a:r>
          </a:p>
          <a:p>
            <a:r>
              <a:rPr sz="1600">
                <a:solidFill>
                  <a:srgbClr val="161625"/>
                </a:solidFill>
              </a:rPr>
              <a:t>•  Demo de las analogías (king - man + woman ≈ queen)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0:15 – 0:35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Teoría Word2Vec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Hipótesis distribucional (Firth, 1957)</a:t>
            </a:r>
          </a:p>
          <a:p>
            <a:r>
              <a:rPr sz="1800">
                <a:solidFill>
                  <a:srgbClr val="161625"/>
                </a:solidFill>
              </a:rPr>
              <a:t>One-hot vs embedding denso</a:t>
            </a:r>
          </a:p>
          <a:p>
            <a:r>
              <a:rPr sz="1800">
                <a:solidFill>
                  <a:srgbClr val="161625"/>
                </a:solidFill>
              </a:rPr>
              <a:t>CBOW vs Skip-gram (pizarra)</a:t>
            </a:r>
          </a:p>
          <a:p>
            <a:r>
              <a:rPr sz="1800">
                <a:solidFill>
                  <a:srgbClr val="161625"/>
                </a:solidFill>
              </a:rPr>
              <a:t>Negative sampling (intuición)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0:15 – 0:35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11 - Word Embeddings.ipynb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context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02489"/>
            <a:ext cx="4251960" cy="37351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731520"/>
            <a:ext cx="4206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743B"/>
                </a:solidFill>
                <a:latin typeface="Arial"/>
              </a:rPr>
              <a:t>Hipótesis distribucional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2212848"/>
            <a:ext cx="420624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Firth, 1957: «You shall know a word by the company it keeps»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El significado de una palabra se infiere de su contexto (ventana)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Word2Vec lo aprende a escala: predice palabra ↔ contexto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cbow_skip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6735" y="371061"/>
            <a:ext cx="4251960" cy="4145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731520"/>
            <a:ext cx="4206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743B"/>
                </a:solidFill>
                <a:latin typeface="Arial"/>
              </a:rPr>
              <a:t>CBOW vs Skip-gram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2212848"/>
            <a:ext cx="420624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 dirty="0">
                <a:solidFill>
                  <a:srgbClr val="161625"/>
                </a:solidFill>
                <a:latin typeface="Arial"/>
              </a:rPr>
              <a:t>•  CBOW: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predice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 la palabra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desde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el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contexto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.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Rápido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;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mejor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en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 palabras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frecuentes</a:t>
            </a:r>
            <a:endParaRPr sz="1400" b="0" i="0" dirty="0">
              <a:solidFill>
                <a:srgbClr val="161625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 dirty="0">
                <a:solidFill>
                  <a:srgbClr val="161625"/>
                </a:solidFill>
                <a:latin typeface="Arial"/>
              </a:rPr>
              <a:t>•  Skip-gram: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predice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el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contexto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desde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 la palabra. Mejor con poco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dato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 y palabras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raras</a:t>
            </a:r>
            <a:endParaRPr sz="1400" b="0" i="0" dirty="0">
              <a:solidFill>
                <a:srgbClr val="161625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 dirty="0">
                <a:solidFill>
                  <a:srgbClr val="161625"/>
                </a:solidFill>
                <a:latin typeface="Arial"/>
              </a:rPr>
              <a:t>•  Se </a:t>
            </a:r>
            <a:r>
              <a:rPr sz="1400" b="0" i="0" dirty="0" err="1">
                <a:solidFill>
                  <a:srgbClr val="161625"/>
                </a:solidFill>
                <a:latin typeface="Arial"/>
              </a:rPr>
              <a:t>elige</a:t>
            </a:r>
            <a:r>
              <a:rPr sz="1400" b="0" i="0" dirty="0">
                <a:solidFill>
                  <a:srgbClr val="161625"/>
                </a:solidFill>
                <a:latin typeface="Arial"/>
              </a:rPr>
              <a:t> con sg=0 (CBOW) o sg=1 (Skip-gram)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_negative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02489"/>
            <a:ext cx="4251960" cy="37351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731520"/>
            <a:ext cx="4206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743B"/>
                </a:solidFill>
                <a:latin typeface="Arial"/>
              </a:rPr>
              <a:t>Negative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2212848"/>
            <a:ext cx="420624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Versión «pura»: recalcular todo el vocabulario en cada paso → lentísimo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Negative sampling: ajusta la palabra real (+) y unas pocas al azar (−)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negative = 5–20: mucho más rápido sin perder calidad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Entrenamiento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sz="1800">
                <a:solidFill>
                  <a:srgbClr val="161625"/>
                </a:solidFill>
              </a:rPr>
              <a:t>Cargar df_clean_simpsons.csv y preparar sentences</a:t>
            </a:r>
          </a:p>
          <a:p>
            <a:r>
              <a:rPr sz="1800">
                <a:solidFill>
                  <a:srgbClr val="161625"/>
                </a:solidFill>
              </a:rPr>
              <a:t>Word2Vec(sentences, sg=1, negative=5, vector_size=100, ...)</a:t>
            </a:r>
          </a:p>
          <a:p>
            <a:r>
              <a:rPr sz="1800">
                <a:solidFill>
                  <a:srgbClr val="161625"/>
                </a:solidFill>
              </a:rPr>
              <a:t>Skip-gram + negative sampling</a:t>
            </a:r>
          </a:p>
          <a:p>
            <a:r>
              <a:rPr sz="1800" b="0" i="0">
                <a:solidFill>
                  <a:srgbClr val="161625"/>
                </a:solidFill>
                <a:latin typeface="Arial"/>
              </a:rPr>
              <a:t>Hiperparámetros clave: vector_size (100–300), window (2–10), min_count (5–30), negative (5–20)</a:t>
            </a:r>
          </a:p>
          <a:p>
            <a:r>
              <a:rPr sz="1800" b="0" i="0">
                <a:solidFill>
                  <a:srgbClr val="161625"/>
                </a:solidFill>
                <a:latin typeface="Arial"/>
              </a:rPr>
              <a:t>3 pasos: Word2Vec(...) → build_vocab() → train() (≈30 épocas)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0:35 – 1:00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11 - Word Embeddings.ipynb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Inspección del modelo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sz="1800">
                <a:solidFill>
                  <a:srgbClr val="161625"/>
                </a:solidFill>
              </a:rPr>
              <a:t>most_similar('homer')</a:t>
            </a:r>
          </a:p>
          <a:p>
            <a:r>
              <a:rPr sz="1800">
                <a:solidFill>
                  <a:srgbClr val="161625"/>
                </a:solidFill>
              </a:rPr>
              <a:t>most_similar('beer')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Demo de la magia: most_similar(positive=['woman', 'king'], negative=['man'])</a:t>
            </a:r>
          </a:p>
          <a:p>
            <a:r>
              <a:rPr sz="1800">
                <a:solidFill>
                  <a:srgbClr val="161625"/>
                </a:solidFill>
              </a:rPr>
              <a:t>Recordatorio: similitud distribucional, NO semántica fina</a:t>
            </a:r>
          </a:p>
          <a:p>
            <a:r>
              <a:rPr sz="1800" b="0" i="0">
                <a:solidFill>
                  <a:srgbClr val="161625"/>
                </a:solidFill>
                <a:latin typeface="Arial"/>
              </a:rPr>
              <a:t>similarity('maggie','baby') ≈ 0.63 · doesnt_match() detecta el intruso de una 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1:00 – 1:25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11 - Word Embeddings.ipynb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_co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54808"/>
            <a:ext cx="4251960" cy="36304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731520"/>
            <a:ext cx="4206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743B"/>
                </a:solidFill>
                <a:latin typeface="Arial"/>
              </a:rPr>
              <a:t>Similitud coseno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2212848"/>
            <a:ext cx="420624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most_similar usa la similitud coseno entre vectores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1 = idénticas · 0 = sin relación · −1 = opuestas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Mide «aparecer en contextos similares», no significado fino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02489"/>
            <a:ext cx="4251960" cy="37351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731520"/>
            <a:ext cx="4206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743B"/>
                </a:solidFill>
                <a:latin typeface="Arial"/>
              </a:rPr>
              <a:t>Aritmética de palabras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2212848"/>
            <a:ext cx="420624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Los embeddings permiten operar con palabras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rey − hombre + mujer  ≈  reina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most_similar(positive=['woman','king'], negative=['man'])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El espacio semántico está estructurado (sale «limpio» con corpus grande)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Limitaciones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sz="1800">
                <a:solidFill>
                  <a:srgbClr val="161625"/>
                </a:solidFill>
              </a:rPr>
              <a:t>OOV: ¿qué pasa con una palabra que no estaba en el corpus? → anticipa FastText</a:t>
            </a:r>
          </a:p>
          <a:p>
            <a:r>
              <a:rPr sz="1800">
                <a:solidFill>
                  <a:srgbClr val="161625"/>
                </a:solidFill>
              </a:rPr>
              <a:t>Sin contexto: 'banco' siempre tiene el mismo vector → anticipa BERT</a:t>
            </a:r>
          </a:p>
          <a:p>
            <a:r>
              <a:rPr sz="1800" b="0" i="0">
                <a:solidFill>
                  <a:srgbClr val="161625"/>
                </a:solidFill>
                <a:latin typeface="Arial"/>
              </a:rPr>
              <a:t>Word2Vec aprende un vector por palabra entera del vocabulario (aquí solo 3.239 palabras)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1:25 – 1:40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11 - Word Embeddings.ipynb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12 · FastText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50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12 · Subword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notebooks/12 - Subword Embeddings.ipynb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FastText resuelve el problema de OOV con n-grams de caracteres</a:t>
            </a:r>
          </a:p>
          <a:p>
            <a:r>
              <a:rPr sz="1600">
                <a:solidFill>
                  <a:srgbClr val="161625"/>
                </a:solidFill>
              </a:rPr>
              <a:t>•  Modelos pre-entrenados para 157 idiomas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1:55 – 2:10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Idea de subwords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sz="1800">
                <a:solidFill>
                  <a:srgbClr val="161625"/>
                </a:solidFill>
              </a:rPr>
              <a:t>N-grams de caracteres + suma</a:t>
            </a:r>
          </a:p>
          <a:p>
            <a:r>
              <a:rPr sz="1800">
                <a:solidFill>
                  <a:srgbClr val="161625"/>
                </a:solidFill>
              </a:rPr>
              <a:t>Pizarra: descomposición de 'jugando' en 3-6 grams</a:t>
            </a:r>
          </a:p>
          <a:p>
            <a:r>
              <a:rPr sz="1800">
                <a:solidFill>
                  <a:srgbClr val="161625"/>
                </a:solidFill>
              </a:rPr>
              <a:t>Cómo cambia esto el manejo de palabras desconocidas</a:t>
            </a:r>
          </a:p>
          <a:p>
            <a:r>
              <a:rPr sz="1800" b="0" i="0">
                <a:solidFill>
                  <a:srgbClr val="161625"/>
                </a:solidFill>
                <a:latin typeface="Arial"/>
              </a:rPr>
              <a:t>Mikolov et al. (Facebook, 2016): «Enriching Word Vectors with Subword Information»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1:55 – 2:10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12 - Subword Embeddings.ipynb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_sub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62527"/>
            <a:ext cx="4251960" cy="38150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731520"/>
            <a:ext cx="4206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FF743B"/>
                </a:solidFill>
                <a:latin typeface="Arial"/>
              </a:rPr>
              <a:t>Subwords: n-gramas de caracteres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2212848"/>
            <a:ext cx="420624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Cada palabra = bolsa de n-gramas de caracteres (con marcas &lt; &gt;)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vector(palabra) = suma de los vectores de sus n-gramas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Hiperparámetros nuevos: min_n = 3, max_n =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Entrenamiento y comparación con Word2Vec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sz="1800">
                <a:solidFill>
                  <a:srgbClr val="161625"/>
                </a:solidFill>
              </a:rPr>
              <a:t>API casi idéntica + min_n, max_n</a:t>
            </a:r>
          </a:p>
          <a:p>
            <a:r>
              <a:rPr sz="1800">
                <a:solidFill>
                  <a:srgbClr val="161625"/>
                </a:solidFill>
              </a:rPr>
              <a:t>Probar OOV: 'homerz', 'simpsonsz' → ¡funciona!</a:t>
            </a:r>
          </a:p>
          <a:p>
            <a:r>
              <a:rPr sz="1800">
                <a:solidFill>
                  <a:srgbClr val="161625"/>
                </a:solidFill>
              </a:rPr>
              <a:t>Comparar con Word2Vec en las mismas palabras</a:t>
            </a:r>
          </a:p>
          <a:p>
            <a:r>
              <a:rPr sz="1800" b="0" i="0">
                <a:solidFill>
                  <a:srgbClr val="161625"/>
                </a:solidFill>
                <a:latin typeface="Arial"/>
              </a:rPr>
              <a:t>FastText prioriza la FORMA (morfología); Word2Vec, el CONTEXTO (semántica). Es un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2:10 – 2:30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12 - Subword Embeddings.ipynb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_fasttext_o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02489"/>
            <a:ext cx="4251960" cy="37351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731520"/>
            <a:ext cx="4206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743B"/>
                </a:solidFill>
                <a:latin typeface="Arial"/>
              </a:rPr>
              <a:t>Palabras desconocidas (OOV)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2212848"/>
            <a:ext cx="420624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Word2Vec: palabra nueva → KeyError (no hay vector)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FastText la reconstruye sumando n-gramas → siempre devuelve (300,)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Resuelve typos, jerga y morfología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Coste: más memoria y entrenamiento más lento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Modelos pre-entrenados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sz="1800">
                <a:solidFill>
                  <a:srgbClr val="161625"/>
                </a:solidFill>
              </a:rPr>
              <a:t>fasttext.util.download_model('es')</a:t>
            </a:r>
          </a:p>
          <a:p>
            <a:r>
              <a:rPr sz="1800">
                <a:solidFill>
                  <a:srgbClr val="161625"/>
                </a:solidFill>
              </a:rPr>
              <a:t>157 idiomas disponibles</a:t>
            </a:r>
          </a:p>
          <a:p>
            <a:r>
              <a:rPr sz="1800">
                <a:solidFill>
                  <a:srgbClr val="161625"/>
                </a:solidFill>
              </a:rPr>
              <a:t>Cuándo entrenar vs cuándo descargar</a:t>
            </a:r>
          </a:p>
          <a:p>
            <a:r>
              <a:rPr sz="1800" b="0" i="0">
                <a:solidFill>
                  <a:srgbClr val="161625"/>
                </a:solidFill>
                <a:latin typeface="Arial"/>
              </a:rPr>
              <a:t>Facebook publica vectores FastText para 157 idiomas (Wikipedia + Common Crawl)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2:30 – 2:45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12 - Subword Embeddings.ipynb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13 · Visualización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65 min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13 · Embeddings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notebooks/13 - Embeddings Visualization.ipynb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Reducir 100/300 dimensiones a 2D para ver clusters</a:t>
            </a:r>
          </a:p>
          <a:p>
            <a:r>
              <a:rPr sz="1600">
                <a:solidFill>
                  <a:srgbClr val="161625"/>
                </a:solidFill>
              </a:rPr>
              <a:t>•  PCA · t-SNE · UMAP + tensorflow projector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2:45 – 3:00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Cargar w2v_model.pkl (o el modelo del NB11)</a:t>
            </a:r>
          </a:p>
          <a:p>
            <a:r>
              <a:rPr sz="1800">
                <a:solidFill>
                  <a:srgbClr val="161625"/>
                </a:solidFill>
              </a:rPr>
              <a:t>Seleccionar top-500 palabras frecuentes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2:45 – 3:00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13 - Embeddings Visualization.ipynb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PCA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sz="1800">
                <a:solidFill>
                  <a:srgbClr val="161625"/>
                </a:solidFill>
              </a:rPr>
              <a:t>Plot 2D con 30 etiquetas aleatorias</a:t>
            </a:r>
          </a:p>
          <a:p>
            <a:r>
              <a:rPr sz="1800">
                <a:solidFill>
                  <a:srgbClr val="161625"/>
                </a:solidFill>
              </a:rPr>
              <a:t>Discutir: varianza explicada baja, clusters difusos</a:t>
            </a:r>
          </a:p>
          <a:p>
            <a:r>
              <a:rPr sz="1800" b="0" i="0">
                <a:solidFill>
                  <a:srgbClr val="161625"/>
                </a:solidFill>
                <a:latin typeface="Arial"/>
              </a:rPr>
              <a:t>Lineal: proyecta sobre las direcciones de mayor varianza. Rápido, pero no capta relaciones no lineales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3:00 – 3:15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13 - Embeddings Visualization.ipynb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t-SNE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sz="1800">
                <a:solidFill>
                  <a:srgbClr val="161625"/>
                </a:solidFill>
              </a:rPr>
              <a:t>Misma data, mejor visualización local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Demo: cambiar perplexity y ver cómo se reorganizan los clusters</a:t>
            </a:r>
          </a:p>
          <a:p>
            <a:r>
              <a:rPr sz="1800" b="0" i="0">
                <a:solidFill>
                  <a:srgbClr val="161625"/>
                </a:solidFill>
                <a:latin typeface="Arial"/>
              </a:rPr>
              <a:t>No lineal: preserva los vecindarios locales. perplexity ≈ nº de vecinos (5–50)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3:15 – 3:30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13 - Embeddings Visualization.ipynb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UMAP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sz="1800">
                <a:solidFill>
                  <a:srgbClr val="161625"/>
                </a:solidFill>
              </a:rPr>
              <a:t>Default moderno: rápido y mantiene estructura local y global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Demo: n_neighbors=5 vs n_neighbors=50</a:t>
            </a:r>
          </a:p>
          <a:p>
            <a:r>
              <a:rPr sz="1800" b="0" i="0">
                <a:solidFill>
                  <a:srgbClr val="161625"/>
                </a:solidFill>
                <a:latin typeface="Arial"/>
              </a:rPr>
              <a:t>Conserva estructura local Y global, y es más rápido que t-SNE. n_neighbors regula el detalle local vs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3:30 – 3:45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13 - Embeddings Visualization.ipynb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_dim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822" y="566928"/>
            <a:ext cx="2664956" cy="4206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731520"/>
            <a:ext cx="4206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FF743B"/>
                </a:solidFill>
                <a:latin typeface="Arial"/>
              </a:rPr>
              <a:t>Reducir a 2D: PCA · t-SNE · UMAP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2212848"/>
            <a:ext cx="420624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Cada palabra es un vector de 300D: hay que reducir a 2D para verlo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PCA: lineal y rápido; clusters difusos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t-SNE: separa muy bien grupos locales (perplexity 5–50)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400" b="0" i="0">
                <a:solidFill>
                  <a:srgbClr val="161625"/>
                </a:solidFill>
                <a:latin typeface="Arial"/>
              </a:rPr>
              <a:t>•  UMAP: default moderno; conserva estructura local y global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Constelación + Tensorflow Projector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Función constellation('homer')</a:t>
            </a:r>
          </a:p>
          <a:p>
            <a:r>
              <a:rPr sz="1800">
                <a:solidFill>
                  <a:srgbClr val="161625"/>
                </a:solidFill>
              </a:rPr>
              <a:t>https://projector.tensorflow.org</a:t>
            </a:r>
          </a:p>
          <a:p>
            <a:r>
              <a:rPr sz="1800">
                <a:solidFill>
                  <a:srgbClr val="161625"/>
                </a:solidFill>
              </a:rPr>
              <a:t>Recurso para alumnos: trastear con embeddings de gran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3:45 – 3:50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13 - Embeddings Visualization.ipynb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625"/>
                </a:solidFill>
              </a:rPr>
              <a:t>Embeddings · clusters visibles tras la proyección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04_embeddings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91229"/>
            <a:ext cx="4526280" cy="2772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16052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595959"/>
                </a:solidFill>
              </a:rPr>
              <a:t>Palabras de un mismo dominio quedan cerca en el espacio 2D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13 - Embeddings Visualization.ipynb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743B"/>
                </a:solidFill>
              </a:rPr>
              <a:t>Cierre · Ideas clave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161625"/>
                </a:solidFill>
              </a:rPr>
              <a:t>1. Embeddings = mucho más expresivos que BoW/TF-IDF</a:t>
            </a:r>
          </a:p>
          <a:p>
            <a:r>
              <a:rPr sz="1800">
                <a:solidFill>
                  <a:srgbClr val="161625"/>
                </a:solidFill>
              </a:rPr>
              <a:t>2. Word2Vec funciona, pero falla con OOV</a:t>
            </a:r>
          </a:p>
          <a:p>
            <a:r>
              <a:rPr sz="1800">
                <a:solidFill>
                  <a:srgbClr val="161625"/>
                </a:solidFill>
              </a:rPr>
              <a:t>3. FastText soluciona OOV vía subwords</a:t>
            </a:r>
          </a:p>
          <a:p>
            <a:r>
              <a:rPr sz="1800">
                <a:solidFill>
                  <a:srgbClr val="161625"/>
                </a:solidFill>
              </a:rPr>
              <a:t>4. Para visualizar: UMAP es el default sensato</a:t>
            </a:r>
          </a:p>
          <a:p>
            <a:r>
              <a:rPr sz="1800">
                <a:solidFill>
                  <a:srgbClr val="161625"/>
                </a:solidFill>
              </a:rPr>
              <a:t>5. Sin contexto seguimos: 'banco' = vector único (lo arreglamos con BERT)</a:t>
            </a:r>
          </a:p>
          <a:p>
            <a:endParaRPr sz="1800">
              <a:solidFill>
                <a:srgbClr val="161625"/>
              </a:solidFill>
            </a:endParaRPr>
          </a:p>
          <a:p>
            <a:r>
              <a:rPr sz="1600" i="1">
                <a:solidFill>
                  <a:srgbClr val="FF743B"/>
                </a:solidFill>
              </a:rPr>
              <a:t>Próxima clase: Deep Learning para NLP: Bi-LSTM y seq2seq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</Words>
  <Application>Microsoft Office PowerPoint</Application>
  <PresentationFormat>Presentación en pantalla (16:9)</PresentationFormat>
  <Paragraphs>156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Simple Light</vt:lpstr>
      <vt:lpstr>Clase 4 · NLP &amp; Searching</vt:lpstr>
      <vt:lpstr>Presentación de PowerPoint</vt:lpstr>
      <vt:lpstr>Notebook 11 · Word2Vec</vt:lpstr>
      <vt:lpstr>Presentación de PowerPoint</vt:lpstr>
      <vt:lpstr>Teoría Word2Vec</vt:lpstr>
      <vt:lpstr>Presentación de PowerPoint</vt:lpstr>
      <vt:lpstr>Presentación de PowerPoint</vt:lpstr>
      <vt:lpstr>Presentación de PowerPoint</vt:lpstr>
      <vt:lpstr>Entrenamiento</vt:lpstr>
      <vt:lpstr>Inspección del modelo</vt:lpstr>
      <vt:lpstr>Presentación de PowerPoint</vt:lpstr>
      <vt:lpstr>Presentación de PowerPoint</vt:lpstr>
      <vt:lpstr>Limitaciones</vt:lpstr>
      <vt:lpstr>Notebook 12 · FastText</vt:lpstr>
      <vt:lpstr>Presentación de PowerPoint</vt:lpstr>
      <vt:lpstr>Idea de subwords</vt:lpstr>
      <vt:lpstr>Presentación de PowerPoint</vt:lpstr>
      <vt:lpstr>Entrenamiento y comparación con Word2Vec</vt:lpstr>
      <vt:lpstr>Presentación de PowerPoint</vt:lpstr>
      <vt:lpstr>Modelos pre-entrenados</vt:lpstr>
      <vt:lpstr>Notebook 13 · Visualización</vt:lpstr>
      <vt:lpstr>Presentación de PowerPoint</vt:lpstr>
      <vt:lpstr>Setup</vt:lpstr>
      <vt:lpstr>PCA</vt:lpstr>
      <vt:lpstr>t-SNE</vt:lpstr>
      <vt:lpstr>UMAP</vt:lpstr>
      <vt:lpstr>Presentación de PowerPoint</vt:lpstr>
      <vt:lpstr>Constelación + Tensorflow Projector</vt:lpstr>
      <vt:lpstr>Embeddings · clusters visibles tras la proyección</vt:lpstr>
      <vt:lpstr>Cierre · Ideas clave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 mayol orell</cp:lastModifiedBy>
  <cp:revision>1</cp:revision>
  <dcterms:modified xsi:type="dcterms:W3CDTF">2026-05-25T15:49:38Z</dcterms:modified>
</cp:coreProperties>
</file>