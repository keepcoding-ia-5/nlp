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2" r:id="rId25"/>
    <p:sldId id="283" r:id="rId26"/>
    <p:sldId id="284" r:id="rId27"/>
    <p:sldId id="285" r:id="rId28"/>
    <p:sldId id="286" r:id="rId29"/>
    <p:sldId id="287" r:id="rId3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2" d="100"/>
          <a:sy n="202" d="100"/>
        </p:scale>
        <p:origin x="620" y="1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Azul" type="title">
  <p:cSld name="TITLE">
    <p:bg>
      <p:bgPr>
        <a:solidFill>
          <a:srgbClr val="1D1D30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65722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None/>
              <a:defRPr sz="2800" b="1">
                <a:solidFill>
                  <a:srgbClr val="1D1D30"/>
                </a:solidFill>
              </a:defRPr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cía Retícula Azul" type="secHead">
  <p:cSld name="SECTION_HEADER">
    <p:bg>
      <p:bgPr>
        <a:solidFill>
          <a:srgbClr val="1D1D30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cía Azul">
  <p:cSld name="SECTION_HEADER_1">
    <p:bg>
      <p:bgPr>
        <a:solidFill>
          <a:srgbClr val="1D1D30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cía blanca">
  <p:cSld name="SECTION_HEADER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cxnSp>
        <p:nvCxnSpPr>
          <p:cNvPr id="24" name="Google Shape;24;p5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uerpo Blanca">
  <p:cSld name="SECTION_HEADER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530050" y="1070075"/>
            <a:ext cx="3435000" cy="15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3200"/>
              <a:buNone/>
              <a:defRPr sz="3200" b="1">
                <a:solidFill>
                  <a:srgbClr val="1D1D30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4263725" y="1010213"/>
            <a:ext cx="42225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600"/>
              <a:buChar char="●"/>
              <a:defRPr sz="1600">
                <a:solidFill>
                  <a:srgbClr val="1D1D30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400"/>
              <a:buChar char="○"/>
              <a:defRPr sz="1400">
                <a:solidFill>
                  <a:srgbClr val="1D1D30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200"/>
              <a:buChar char="■"/>
              <a:defRPr sz="1200">
                <a:solidFill>
                  <a:srgbClr val="1D1D30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100"/>
              <a:buChar char="●"/>
              <a:defRPr sz="1100">
                <a:solidFill>
                  <a:srgbClr val="1D1D30"/>
                </a:solidFill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900"/>
              <a:buChar char="○"/>
              <a:defRPr sz="900">
                <a:solidFill>
                  <a:srgbClr val="1D1D30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800"/>
              <a:buChar char="■"/>
              <a:defRPr sz="800">
                <a:solidFill>
                  <a:srgbClr val="1D1D30"/>
                </a:solidFill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700"/>
              <a:buChar char="●"/>
              <a:defRPr sz="700">
                <a:solidFill>
                  <a:srgbClr val="1D1D30"/>
                </a:solidFill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600"/>
              <a:buChar char="○"/>
              <a:defRPr sz="600">
                <a:solidFill>
                  <a:srgbClr val="1D1D30"/>
                </a:solidFill>
              </a:defRPr>
            </a:lvl8pPr>
            <a:lvl9pPr marL="4114800" lvl="8" indent="-2603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500"/>
              <a:buChar char="■"/>
              <a:defRPr sz="500">
                <a:solidFill>
                  <a:srgbClr val="1D1D30"/>
                </a:solidFill>
              </a:defRPr>
            </a:lvl9pPr>
          </a:lstStyle>
          <a:p>
            <a:endParaRPr/>
          </a:p>
        </p:txBody>
      </p:sp>
      <p:cxnSp>
        <p:nvCxnSpPr>
          <p:cNvPr id="30" name="Google Shape;30;p6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uerpo V1" type="tx">
  <p:cSld name="TITLE_AND_BODY">
    <p:bg>
      <p:bgPr>
        <a:solidFill>
          <a:srgbClr val="1D1D30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t="70" b="7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5000625" y="1080550"/>
            <a:ext cx="3831600" cy="17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5" name="Google Shape;3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" name="Google Shape;36;p7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691850" y="863538"/>
            <a:ext cx="42225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600"/>
              <a:buChar char="●"/>
              <a:defRPr sz="1600">
                <a:solidFill>
                  <a:srgbClr val="1D1D30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400"/>
              <a:buChar char="○"/>
              <a:defRPr sz="1400">
                <a:solidFill>
                  <a:srgbClr val="1D1D30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200"/>
              <a:buChar char="■"/>
              <a:defRPr sz="1200">
                <a:solidFill>
                  <a:srgbClr val="1D1D30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100"/>
              <a:buChar char="●"/>
              <a:defRPr sz="1100">
                <a:solidFill>
                  <a:srgbClr val="1D1D30"/>
                </a:solidFill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900"/>
              <a:buChar char="○"/>
              <a:defRPr sz="900">
                <a:solidFill>
                  <a:srgbClr val="1D1D30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800"/>
              <a:buChar char="■"/>
              <a:defRPr sz="800">
                <a:solidFill>
                  <a:srgbClr val="1D1D30"/>
                </a:solidFill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700"/>
              <a:buChar char="●"/>
              <a:defRPr sz="700">
                <a:solidFill>
                  <a:srgbClr val="1D1D30"/>
                </a:solidFill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600"/>
              <a:buChar char="○"/>
              <a:defRPr sz="600">
                <a:solidFill>
                  <a:srgbClr val="1D1D30"/>
                </a:solidFill>
              </a:defRPr>
            </a:lvl8pPr>
            <a:lvl9pPr marL="4114800" lvl="8" indent="-2603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500"/>
              <a:buChar char="■"/>
              <a:defRPr sz="500">
                <a:solidFill>
                  <a:srgbClr val="1D1D3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uerpo V2">
  <p:cSld name="TITLE_AND_BODY_1">
    <p:bg>
      <p:bgPr>
        <a:solidFill>
          <a:srgbClr val="1D1D30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 t="70" b="7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530050" y="1070075"/>
            <a:ext cx="3435000" cy="15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9pPr>
          </a:lstStyle>
          <a:p>
            <a:endParaRPr/>
          </a:p>
        </p:txBody>
      </p:sp>
      <p:pic>
        <p:nvPicPr>
          <p:cNvPr id="41" name="Google Shape;4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cxnSp>
        <p:nvCxnSpPr>
          <p:cNvPr id="43" name="Google Shape;43;p8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" name="Google Shape;44;p8"/>
          <p:cNvSpPr txBox="1">
            <a:spLocks noGrp="1"/>
          </p:cNvSpPr>
          <p:nvPr>
            <p:ph type="body" idx="1"/>
          </p:nvPr>
        </p:nvSpPr>
        <p:spPr>
          <a:xfrm>
            <a:off x="4372875" y="889888"/>
            <a:ext cx="42225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600"/>
              <a:buChar char="●"/>
              <a:defRPr sz="1600">
                <a:solidFill>
                  <a:srgbClr val="1D1D30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400"/>
              <a:buChar char="○"/>
              <a:defRPr sz="1400">
                <a:solidFill>
                  <a:srgbClr val="1D1D30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200"/>
              <a:buChar char="■"/>
              <a:defRPr sz="1200">
                <a:solidFill>
                  <a:srgbClr val="1D1D30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1100"/>
              <a:buChar char="●"/>
              <a:defRPr sz="1100">
                <a:solidFill>
                  <a:srgbClr val="1D1D30"/>
                </a:solidFill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900"/>
              <a:buChar char="○"/>
              <a:defRPr sz="900">
                <a:solidFill>
                  <a:srgbClr val="1D1D30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800"/>
              <a:buChar char="■"/>
              <a:defRPr sz="800">
                <a:solidFill>
                  <a:srgbClr val="1D1D30"/>
                </a:solidFill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700"/>
              <a:buChar char="●"/>
              <a:defRPr sz="700">
                <a:solidFill>
                  <a:srgbClr val="1D1D30"/>
                </a:solidFill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600"/>
              <a:buChar char="○"/>
              <a:defRPr sz="600">
                <a:solidFill>
                  <a:srgbClr val="1D1D30"/>
                </a:solidFill>
              </a:defRPr>
            </a:lvl8pPr>
            <a:lvl9pPr marL="4114800" lvl="8" indent="-260350"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500"/>
              <a:buChar char="■"/>
              <a:defRPr sz="500">
                <a:solidFill>
                  <a:srgbClr val="1D1D3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rgbClr val="1D1D30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9"/>
          <p:cNvPicPr preferRelativeResize="0"/>
          <p:nvPr/>
        </p:nvPicPr>
        <p:blipFill rotWithShape="1">
          <a:blip r:embed="rId2">
            <a:alphaModFix/>
          </a:blip>
          <a:srcRect t="70" b="7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440300" cy="16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3200"/>
              <a:buNone/>
              <a:defRPr sz="3200" b="1">
                <a:solidFill>
                  <a:srgbClr val="161625"/>
                </a:solidFill>
              </a:defRPr>
            </a:lvl9pPr>
          </a:lstStyle>
          <a:p>
            <a:endParaRPr/>
          </a:p>
        </p:txBody>
      </p:sp>
      <p:pic>
        <p:nvPicPr>
          <p:cNvPr id="48" name="Google Shape;4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1D1D30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0"/>
          <p:cNvPicPr preferRelativeResize="0"/>
          <p:nvPr/>
        </p:nvPicPr>
        <p:blipFill rotWithShape="1">
          <a:blip r:embed="rId2">
            <a:alphaModFix/>
          </a:blip>
          <a:srcRect t="70" b="7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48768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800"/>
              <a:buNone/>
              <a:defRPr b="1">
                <a:solidFill>
                  <a:srgbClr val="161625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body" idx="1"/>
          </p:nvPr>
        </p:nvSpPr>
        <p:spPr>
          <a:xfrm>
            <a:off x="4417075" y="1311300"/>
            <a:ext cx="4222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2200"/>
              <a:buChar char="●"/>
              <a:defRPr sz="2200" b="1">
                <a:solidFill>
                  <a:srgbClr val="161625"/>
                </a:solidFill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1600"/>
              <a:buChar char="○"/>
              <a:defRPr sz="1600">
                <a:solidFill>
                  <a:srgbClr val="161625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1400"/>
              <a:buChar char="■"/>
              <a:defRPr>
                <a:solidFill>
                  <a:srgbClr val="161625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1200"/>
              <a:buChar char="●"/>
              <a:defRPr sz="1200">
                <a:solidFill>
                  <a:srgbClr val="161625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1000"/>
              <a:buChar char="○"/>
              <a:defRPr sz="1000">
                <a:solidFill>
                  <a:srgbClr val="161625"/>
                </a:solidFill>
              </a:defRPr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900"/>
              <a:buChar char="■"/>
              <a:defRPr sz="900">
                <a:solidFill>
                  <a:srgbClr val="161625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800"/>
              <a:buChar char="●"/>
              <a:defRPr sz="800">
                <a:solidFill>
                  <a:srgbClr val="161625"/>
                </a:solidFill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700"/>
              <a:buChar char="○"/>
              <a:defRPr sz="700">
                <a:solidFill>
                  <a:srgbClr val="161625"/>
                </a:solidFill>
              </a:defRPr>
            </a:lvl8pPr>
            <a:lvl9pPr marL="4114800" lvl="8" indent="-260350">
              <a:spcBef>
                <a:spcPts val="0"/>
              </a:spcBef>
              <a:spcAft>
                <a:spcPts val="0"/>
              </a:spcAft>
              <a:buClr>
                <a:srgbClr val="161625"/>
              </a:buClr>
              <a:buSzPts val="500"/>
              <a:buChar char="■"/>
              <a:defRPr sz="500">
                <a:solidFill>
                  <a:srgbClr val="161625"/>
                </a:solidFill>
              </a:defRPr>
            </a:lvl9pPr>
          </a:lstStyle>
          <a:p>
            <a:endParaRPr/>
          </a:p>
        </p:txBody>
      </p:sp>
      <p:pic>
        <p:nvPicPr>
          <p:cNvPr id="55" name="Google Shape;5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cxnSp>
        <p:nvCxnSpPr>
          <p:cNvPr id="57" name="Google Shape;57;p10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cía blanca">
  <p:cSld name="MAIN_POINT">
    <p:bg>
      <p:bgPr>
        <a:solidFill>
          <a:srgbClr val="1D1D30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1"/>
          <p:cNvPicPr preferRelativeResize="0"/>
          <p:nvPr/>
        </p:nvPicPr>
        <p:blipFill rotWithShape="1">
          <a:blip r:embed="rId2">
            <a:alphaModFix/>
          </a:blip>
          <a:srcRect t="70" b="70"/>
          <a:stretch/>
        </p:blipFill>
        <p:spPr>
          <a:xfrm>
            <a:off x="0" y="-132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1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cxnSp>
        <p:nvCxnSpPr>
          <p:cNvPr id="62" name="Google Shape;62;p11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cía amarilla">
  <p:cSld name="MAIN_POINT_1">
    <p:bg>
      <p:bgPr>
        <a:solidFill>
          <a:srgbClr val="1D1D30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32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2"/>
          <p:cNvSpPr txBox="1">
            <a:spLocks noGrp="1"/>
          </p:cNvSpPr>
          <p:nvPr>
            <p:ph type="sldNum" idx="12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rgbClr val="161625"/>
                </a:solidFill>
              </a:defRPr>
            </a:lvl1pPr>
            <a:lvl2pPr lvl="1">
              <a:buNone/>
              <a:defRPr>
                <a:solidFill>
                  <a:srgbClr val="161625"/>
                </a:solidFill>
              </a:defRPr>
            </a:lvl2pPr>
            <a:lvl3pPr lvl="2">
              <a:buNone/>
              <a:defRPr>
                <a:solidFill>
                  <a:srgbClr val="161625"/>
                </a:solidFill>
              </a:defRPr>
            </a:lvl3pPr>
            <a:lvl4pPr lvl="3">
              <a:buNone/>
              <a:defRPr>
                <a:solidFill>
                  <a:srgbClr val="161625"/>
                </a:solidFill>
              </a:defRPr>
            </a:lvl4pPr>
            <a:lvl5pPr lvl="4">
              <a:buNone/>
              <a:defRPr>
                <a:solidFill>
                  <a:srgbClr val="161625"/>
                </a:solidFill>
              </a:defRPr>
            </a:lvl5pPr>
            <a:lvl6pPr lvl="5">
              <a:buNone/>
              <a:defRPr>
                <a:solidFill>
                  <a:srgbClr val="161625"/>
                </a:solidFill>
              </a:defRPr>
            </a:lvl6pPr>
            <a:lvl7pPr lvl="6">
              <a:buNone/>
              <a:defRPr>
                <a:solidFill>
                  <a:srgbClr val="161625"/>
                </a:solidFill>
              </a:defRPr>
            </a:lvl7pPr>
            <a:lvl8pPr lvl="7">
              <a:buNone/>
              <a:defRPr>
                <a:solidFill>
                  <a:srgbClr val="161625"/>
                </a:solidFill>
              </a:defRPr>
            </a:lvl8pPr>
            <a:lvl9pPr lvl="8">
              <a:buNone/>
              <a:defRPr>
                <a:solidFill>
                  <a:srgbClr val="161625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cxnSp>
        <p:nvCxnSpPr>
          <p:cNvPr id="67" name="Google Shape;67;p12"/>
          <p:cNvCxnSpPr/>
          <p:nvPr/>
        </p:nvCxnSpPr>
        <p:spPr>
          <a:xfrm>
            <a:off x="294158" y="4903892"/>
            <a:ext cx="8532900" cy="1200"/>
          </a:xfrm>
          <a:prstGeom prst="straightConnector1">
            <a:avLst/>
          </a:prstGeom>
          <a:noFill/>
          <a:ln w="9525" cap="flat" cmpd="sng">
            <a:solidFill>
              <a:srgbClr val="FF743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" type="blank">
  <p:cSld name="BLANK">
    <p:bg>
      <p:bgPr>
        <a:solidFill>
          <a:srgbClr val="1D1D30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3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9144000" cy="514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 title="KeepcodingColores_RGB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050" y="1453825"/>
            <a:ext cx="7480151" cy="22199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/>
          <p:nvPr/>
        </p:nvSpPr>
        <p:spPr>
          <a:xfrm>
            <a:off x="25" y="4866050"/>
            <a:ext cx="9144000" cy="2775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" name="Google Shape;7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0498" y="4893923"/>
            <a:ext cx="221751" cy="221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3"/>
          <p:cNvSpPr txBox="1"/>
          <p:nvPr/>
        </p:nvSpPr>
        <p:spPr>
          <a:xfrm>
            <a:off x="1802250" y="4866063"/>
            <a:ext cx="1308900" cy="2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</a:rPr>
              <a:t>www.keepcoding.io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3823325" y="4866050"/>
            <a:ext cx="1497900" cy="2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</a:rPr>
              <a:t>cursos@keepcoding.io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75" name="Google Shape;7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1575" y="4893925"/>
            <a:ext cx="221750" cy="2217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 txBox="1"/>
          <p:nvPr/>
        </p:nvSpPr>
        <p:spPr>
          <a:xfrm>
            <a:off x="5967675" y="4866025"/>
            <a:ext cx="1497900" cy="2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highlight>
                  <a:srgbClr val="161625"/>
                </a:highlight>
              </a:rPr>
              <a:t>(+34) 916 33 1779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77" name="Google Shape;7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83875" y="4893938"/>
            <a:ext cx="221750" cy="2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1D1D3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14050" y="1017713"/>
            <a:ext cx="4222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●"/>
              <a:defRPr sz="700">
                <a:solidFill>
                  <a:schemeClr val="lt1"/>
                </a:solidFill>
              </a:defRPr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Char char="○"/>
              <a:defRPr sz="600">
                <a:solidFill>
                  <a:schemeClr val="lt1"/>
                </a:solidFill>
              </a:defRPr>
            </a:lvl8pPr>
            <a:lvl9pPr marL="4114800" lvl="8" indent="-2603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Char char="■"/>
              <a:defRPr sz="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 dirty="0">
                <a:solidFill>
                  <a:schemeClr val="bg1"/>
                </a:solidFill>
              </a:rPr>
              <a:t>Clase 2 · NLP &amp; Searching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1">
                <a:solidFill>
                  <a:srgbClr val="FF743B"/>
                </a:solidFill>
              </a:rPr>
              <a:t>Matching, visualización, NER y representación · 4h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43B"/>
                </a:solidFill>
              </a:rP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>
                <a:solidFill>
                  <a:srgbClr val="161625"/>
                </a:solidFill>
              </a:rPr>
              <a:t>Notebooks 5 (completo), 6, 7 y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43B"/>
                </a:solidFill>
              </a:rPr>
              <a:t>Recap Clase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>
                <a:solidFill>
                  <a:srgbClr val="161625"/>
                </a:solidFill>
              </a:rPr>
              <a:t>5 min y resolvemos dudas de la práctica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Recap rápido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Preprocesado, normalización, stopwords (¡cuidado con la negación!)</a:t>
            </a:r>
          </a:p>
          <a:p>
            <a:r>
              <a:rPr sz="1800">
                <a:solidFill>
                  <a:srgbClr val="161625"/>
                </a:solidFill>
              </a:rPr>
              <a:t>spaCy: pipeline completo en una pasada</a:t>
            </a:r>
          </a:p>
          <a:p>
            <a:r>
              <a:rPr sz="1800">
                <a:solidFill>
                  <a:srgbClr val="161625"/>
                </a:solidFill>
              </a:rPr>
              <a:t>NLTK: sent_tokenize y Snowball stemmer</a:t>
            </a:r>
          </a:p>
          <a:p>
            <a:r>
              <a:rPr sz="1800">
                <a:solidFill>
                  <a:srgbClr val="161625"/>
                </a:solidFill>
              </a:rPr>
              <a:t>Norvig: corrector ortográfico bayesiano</a:t>
            </a:r>
          </a:p>
          <a:p>
            <a:r>
              <a:rPr sz="1800">
                <a:solidFill>
                  <a:srgbClr val="161625"/>
                </a:solidFill>
              </a:rPr>
              <a:t>Pregunta: ¿alguien ha empezado el EDA de la práctica?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0:00 – 0:20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43B"/>
                </a:solidFill>
              </a:rPr>
              <a:t>Notebook 5 · Matching completo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>
                <a:solidFill>
                  <a:srgbClr val="161625"/>
                </a:solidFill>
              </a:rPr>
              <a:t>60 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743B"/>
                </a:solidFill>
                <a:latin typeface="Calibri"/>
              </a:rPr>
              <a:t>AHORA AL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743B"/>
                </a:solidFill>
              </a:rPr>
              <a:t>Notebook 5 · Matching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8046720" cy="640080"/>
          </a:xfrm>
          <a:prstGeom prst="roundRect">
            <a:avLst/>
          </a:prstGeom>
          <a:solidFill>
            <a:srgbClr val="FFECDE"/>
          </a:solidFill>
          <a:ln w="1905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l"/>
            <a:r>
              <a:rPr sz="1800" b="1">
                <a:solidFill>
                  <a:srgbClr val="FF743B"/>
                </a:solidFill>
                <a:latin typeface="Consolas"/>
              </a:rPr>
              <a:t>▶  notebooks/05 - Matching.ipynb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61625"/>
                </a:solidFill>
              </a:rPr>
              <a:t>•  O en notebooks_explicados/05 - Matching (explicado).ipynb</a:t>
            </a:r>
          </a:p>
          <a:p>
            <a:r>
              <a:rPr sz="1600">
                <a:solidFill>
                  <a:srgbClr val="161625"/>
                </a:solidFill>
              </a:rPr>
              <a:t>•  Hoy desarrollamos el matching completo: regex, edit distances, fonética</a:t>
            </a:r>
          </a:p>
          <a:p>
            <a:r>
              <a:rPr sz="1600">
                <a:solidFill>
                  <a:srgbClr val="161625"/>
                </a:solidFill>
              </a:rPr>
              <a:t>•  Cerramos con un autocompletador tolerante a typos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0:20 – 0:25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Regex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Cheatsheet: \w · \d · [^@] · + · * · ? · {n,m}</a:t>
            </a:r>
          </a:p>
          <a:p>
            <a:r>
              <a:rPr sz="1800">
                <a:solidFill>
                  <a:srgbClr val="161625"/>
                </a:solidFill>
              </a:rPr>
              <a:t>Ejemplos en vivo: email, precios, URLs</a:t>
            </a:r>
          </a:p>
          <a:p>
            <a:r>
              <a:rPr sz="1800">
                <a:solidFill>
                  <a:srgbClr val="161625"/>
                </a:solidFill>
              </a:rPr>
              <a:t>Demo en https://regexr.com</a:t>
            </a:r>
          </a:p>
          <a:p>
            <a:pPr lvl="1"/>
            <a:r>
              <a:rPr sz="1500">
                <a:solidFill>
                  <a:srgbClr val="161625"/>
                </a:solidFill>
              </a:rPr>
              <a:t>💡 Catastrophic backtracking: prueba (a+)+b con string adversario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0:20 – 0:35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05 - Matching.ipynb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Distancias de edición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Levenshtein con DP (escribir fórmula en pizarra)</a:t>
            </a:r>
          </a:p>
          <a:p>
            <a:r>
              <a:rPr sz="1800">
                <a:solidFill>
                  <a:srgbClr val="161625"/>
                </a:solidFill>
              </a:rPr>
              <a:t>Damerau-Levenshtein (incluye transposiciones)</a:t>
            </a:r>
          </a:p>
          <a:p>
            <a:r>
              <a:rPr sz="1800">
                <a:solidFill>
                  <a:srgbClr val="161625"/>
                </a:solidFill>
              </a:rPr>
              <a:t>Jaro-Winkler</a:t>
            </a:r>
          </a:p>
          <a:p>
            <a:r>
              <a:rPr sz="1800">
                <a:solidFill>
                  <a:srgbClr val="161625"/>
                </a:solidFill>
              </a:rPr>
              <a:t>jellyfish para comparar en tabla</a:t>
            </a:r>
          </a:p>
          <a:p>
            <a:pPr lvl="1"/>
            <a:r>
              <a:rPr sz="1500">
                <a:solidFill>
                  <a:srgbClr val="161625"/>
                </a:solidFill>
              </a:rPr>
              <a:t>Pregunta: ¿cuál usarías para corregir typos de teclado? → Damerau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0:35 – 0:50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05 - Matching.ipynb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Matching fonético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Soundex y Metaphone con jellyfish</a:t>
            </a:r>
          </a:p>
          <a:p>
            <a:r>
              <a:rPr sz="1800">
                <a:solidFill>
                  <a:srgbClr val="161625"/>
                </a:solidFill>
              </a:rPr>
              <a:t>Limitación: solo funciona bien en inglés</a:t>
            </a:r>
          </a:p>
          <a:p>
            <a:r>
              <a:rPr sz="1800">
                <a:solidFill>
                  <a:srgbClr val="161625"/>
                </a:solidFill>
              </a:rPr>
              <a:t>Caso real: motor de búsqueda de nombres en BBDD del censo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0:50 – 1:00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05 - Matching.ipynb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Aplicación: autocompletado tolerante a typos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Construir el autocompletador de títulos de películas en directo</a:t>
            </a:r>
          </a:p>
          <a:p>
            <a:r>
              <a:rPr sz="1800">
                <a:solidFill>
                  <a:srgbClr val="161625"/>
                </a:solidFill>
              </a:rPr>
              <a:t>Mezclar prefix exacto + Jaro-Winkler</a:t>
            </a:r>
          </a:p>
          <a:p>
            <a:pPr lvl="1"/>
            <a:r>
              <a:rPr sz="1500">
                <a:solidFill>
                  <a:srgbClr val="161625"/>
                </a:solidFill>
              </a:rPr>
              <a:t>💡 Demo: 'el padrno', 'harri potter', 'tarrent'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1:00 – 1:20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05 - Matching.ipynb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43B"/>
                </a:solidFill>
              </a:rPr>
              <a:t>Notebook 6 · Visualización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>
                <a:solidFill>
                  <a:srgbClr val="161625"/>
                </a:solidFill>
              </a:rPr>
              <a:t>45 min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743B"/>
                </a:solidFill>
                <a:latin typeface="Calibri"/>
              </a:rPr>
              <a:t>AHORA AL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743B"/>
                </a:solidFill>
              </a:rPr>
              <a:t>Notebook 6 · Visualization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8046720" cy="640080"/>
          </a:xfrm>
          <a:prstGeom prst="roundRect">
            <a:avLst/>
          </a:prstGeom>
          <a:solidFill>
            <a:srgbClr val="FFECDE"/>
          </a:solidFill>
          <a:ln w="1905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l"/>
            <a:r>
              <a:rPr sz="1800" b="1">
                <a:solidFill>
                  <a:srgbClr val="FF743B"/>
                </a:solidFill>
                <a:latin typeface="Consolas"/>
              </a:rPr>
              <a:t>▶  notebooks/06 - Visualization.ipynb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61625"/>
                </a:solidFill>
              </a:rPr>
              <a:t>•  Frecuencias y n-grams · Wordclouds · Dispersión léxica · Ley de Zipf</a:t>
            </a:r>
          </a:p>
          <a:p>
            <a:r>
              <a:rPr sz="1600">
                <a:solidFill>
                  <a:srgbClr val="161625"/>
                </a:solidFill>
              </a:rPr>
              <a:t>•  Mientras: precarga el dataset de spam y descomprime inaugural.zip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1:35 – 1:40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Frecuencias y n-grams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Counter + bar chart</a:t>
            </a:r>
          </a:p>
          <a:p>
            <a:r>
              <a:rPr sz="1800">
                <a:solidFill>
                  <a:srgbClr val="161625"/>
                </a:solidFill>
              </a:rPr>
              <a:t>Lo importante: filtrar stopwords ANTES del gráfico</a:t>
            </a:r>
          </a:p>
          <a:p>
            <a:r>
              <a:rPr sz="1800">
                <a:solidFill>
                  <a:srgbClr val="161625"/>
                </a:solidFill>
              </a:rPr>
              <a:t>Bigrams sin stopwords → mucho más informativos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1:35 – 1:45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06 - Visualization.ipynb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Wordclouds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Librería wordcloud</a:t>
            </a:r>
          </a:p>
          <a:p>
            <a:pPr lvl="1"/>
            <a:r>
              <a:rPr sz="1500">
                <a:solidFill>
                  <a:srgbClr val="161625"/>
                </a:solidFill>
              </a:rPr>
              <a:t>💡 Cuidado: las wordclouds son bonitas pero NO cuantitativas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1:45 – 1:55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06 - Visualization.ipynb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Dispersión léxica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Corpus de discursos inaugurales de presidentes USA</a:t>
            </a:r>
          </a:p>
          <a:p>
            <a:r>
              <a:rPr sz="1800">
                <a:solidFill>
                  <a:srgbClr val="161625"/>
                </a:solidFill>
              </a:rPr>
              <a:t>dispersion_plot de NLTK con: democracy, freedom, america, citizens</a:t>
            </a:r>
          </a:p>
          <a:p>
            <a:pPr lvl="1"/>
            <a:r>
              <a:rPr sz="1500">
                <a:solidFill>
                  <a:srgbClr val="161625"/>
                </a:solidFill>
              </a:rPr>
              <a:t>Observación: 'democracy' aparece tardíamente en la historia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1:55 – 2:10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06 - Visualization.ipynb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Ley de Zipf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Pizarra: explicación + fórmula</a:t>
            </a:r>
          </a:p>
          <a:p>
            <a:r>
              <a:rPr sz="1800">
                <a:solidFill>
                  <a:srgbClr val="161625"/>
                </a:solidFill>
              </a:rPr>
              <a:t>Gráfico log-log con el corpus</a:t>
            </a:r>
          </a:p>
          <a:p>
            <a:pPr lvl="1"/>
            <a:r>
              <a:rPr sz="1500">
                <a:solidFill>
                  <a:srgbClr val="161625"/>
                </a:solidFill>
              </a:rPr>
              <a:t>💡 Mind-blow: funciona en cualquier idioma y dominio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2:10 – 2:20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06 - Visualization.ipynb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43B"/>
                </a:solidFill>
              </a:rPr>
              <a:t>Notebook 7 · NER con CRFs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>
                <a:solidFill>
                  <a:srgbClr val="161625"/>
                </a:solidFill>
              </a:rPr>
              <a:t>45 min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743B"/>
                </a:solidFill>
                <a:latin typeface="Calibri"/>
              </a:rPr>
              <a:t>AHORA AL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743B"/>
                </a:solidFill>
              </a:rPr>
              <a:t>Notebook 7 · 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8046720" cy="640080"/>
          </a:xfrm>
          <a:prstGeom prst="roundRect">
            <a:avLst/>
          </a:prstGeom>
          <a:solidFill>
            <a:srgbClr val="FFECDE"/>
          </a:solidFill>
          <a:ln w="1905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l"/>
            <a:r>
              <a:rPr sz="1800" b="1">
                <a:solidFill>
                  <a:srgbClr val="FF743B"/>
                </a:solidFill>
                <a:latin typeface="Consolas"/>
              </a:rPr>
              <a:t>▶  notebooks/07 - NER.ipynb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61625"/>
                </a:solidFill>
              </a:rPr>
              <a:t>•  Etiquetado secuencial vs clasificación de documentos</a:t>
            </a:r>
          </a:p>
          <a:p>
            <a:r>
              <a:rPr sz="1600">
                <a:solidFill>
                  <a:srgbClr val="161625"/>
                </a:solidFill>
              </a:rPr>
              <a:t>•  IOB encoding y por qué CRF captura dependencias entre etiquetas vecinas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2:20 – 2:30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¿Qué es NER y por qué CRF?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Etiquetado secuencial vs clasificación de documentos</a:t>
            </a:r>
          </a:p>
          <a:p>
            <a:r>
              <a:rPr sz="1800">
                <a:solidFill>
                  <a:srgbClr val="161625"/>
                </a:solidFill>
              </a:rPr>
              <a:t>IOB encoding (pizarra: ejemplo Nueva York vs Nueva York Chicago)</a:t>
            </a:r>
          </a:p>
          <a:p>
            <a:r>
              <a:rPr sz="1800">
                <a:solidFill>
                  <a:srgbClr val="161625"/>
                </a:solidFill>
              </a:rPr>
              <a:t>Por qué CRF: captura dependencias entre etiquetas vecinas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2:20 – 2:30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07 - NER.ipynb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Setup y feature engineering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Cargar CoNLL 2002</a:t>
            </a:r>
          </a:p>
          <a:p>
            <a:r>
              <a:rPr sz="1800">
                <a:solidFill>
                  <a:srgbClr val="161625"/>
                </a:solidFill>
              </a:rPr>
              <a:t>Función word2features celda a celda — EXPLICA cada feature</a:t>
            </a:r>
          </a:p>
          <a:p>
            <a:r>
              <a:rPr sz="1800">
                <a:solidFill>
                  <a:srgbClr val="161625"/>
                </a:solidFill>
              </a:rPr>
              <a:t>Mensaje clave: el feature engineering ES el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2:30 – 2:45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07 - NER.ipynb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Entrenamiento y evaluación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sklearn-crfsuite</a:t>
            </a:r>
          </a:p>
          <a:p>
            <a:r>
              <a:rPr sz="1800">
                <a:solidFill>
                  <a:srgbClr val="161625"/>
                </a:solidFill>
              </a:rPr>
              <a:t>F1 ponderado SIN la clase 'O'</a:t>
            </a:r>
          </a:p>
          <a:p>
            <a:r>
              <a:rPr sz="1800">
                <a:solidFill>
                  <a:srgbClr val="161625"/>
                </a:solidFill>
              </a:rPr>
              <a:t>Resultado típico: ~0.76 en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2:45 – 3:00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07 - NER.ipynb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Interpretación del modelo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Top 10 transiciones y features más informativas</a:t>
            </a:r>
          </a:p>
          <a:p>
            <a:pPr lvl="1"/>
            <a:r>
              <a:rPr sz="1500">
                <a:solidFill>
                  <a:srgbClr val="161625"/>
                </a:solidFill>
              </a:rPr>
              <a:t>💡 Highlight: O ← word.istitle() tiene peso súper negativo</a:t>
            </a:r>
          </a:p>
          <a:p>
            <a:pPr lvl="1"/>
            <a:r>
              <a:rPr sz="1500">
                <a:solidFill>
                  <a:srgbClr val="161625"/>
                </a:solidFill>
              </a:rPr>
              <a:t>El modelo aprendió que las mayúsculas son señal de entidad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3:00 – 3:05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07 - NER.ipynb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625"/>
                </a:solidFill>
              </a:rPr>
              <a:t>NER · qué predice un CRF entrenado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02_ner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863840" cy="21237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495338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i="1">
                <a:solidFill>
                  <a:srgbClr val="595959"/>
                </a:solidFill>
              </a:rPr>
              <a:t>Lo mismo que vimos con spaCy, pero ahora entrenado por nosotros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07 - NER.ipynb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43B"/>
                </a:solidFill>
              </a:rPr>
              <a:t>Notebook 8 · BoW y TF-IDF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>
                <a:solidFill>
                  <a:srgbClr val="161625"/>
                </a:solidFill>
              </a:rPr>
              <a:t>35 min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743B"/>
                </a:solidFill>
                <a:latin typeface="Calibri"/>
              </a:rPr>
              <a:t>AHORA AL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743B"/>
                </a:solidFill>
              </a:rPr>
              <a:t>Notebook 8 · Text Representation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8046720" cy="640080"/>
          </a:xfrm>
          <a:prstGeom prst="roundRect">
            <a:avLst/>
          </a:prstGeom>
          <a:solidFill>
            <a:srgbClr val="FFECDE"/>
          </a:solidFill>
          <a:ln w="1905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l"/>
            <a:r>
              <a:rPr sz="1800" b="1">
                <a:solidFill>
                  <a:srgbClr val="FF743B"/>
                </a:solidFill>
                <a:latin typeface="Consolas"/>
              </a:rPr>
              <a:t>▶  notebooks/08 - Text Representation.ipynb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61625"/>
                </a:solidFill>
              </a:rPr>
              <a:t>•  Recap de representaciones: One-hot → BoW → TF-IDF → embeddings (próximas clases)</a:t>
            </a:r>
          </a:p>
          <a:p>
            <a:r>
              <a:rPr sz="1600">
                <a:solidFill>
                  <a:srgbClr val="161625"/>
                </a:solidFill>
              </a:rPr>
              <a:t>•  Cierra con caso real de detección de spam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3:20 – 3:25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CountVectorizer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Ejemplo mínimo con 3 frases</a:t>
            </a:r>
          </a:p>
          <a:p>
            <a:r>
              <a:rPr sz="1800">
                <a:solidFill>
                  <a:srgbClr val="161625"/>
                </a:solidFill>
              </a:rPr>
              <a:t>Visualizar matriz documento-término con pandas</a:t>
            </a:r>
          </a:p>
          <a:p>
            <a:r>
              <a:rPr sz="1800">
                <a:solidFill>
                  <a:srgbClr val="161625"/>
                </a:solidFill>
              </a:rPr>
              <a:t>Parámetros clave: ngram_range, max_features, max_df, min_df, stop_words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3:25 – 3:40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08 - Text Representation.ipynb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TfidfVectorizer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Intuición: TF × log(N/DF)</a:t>
            </a:r>
          </a:p>
          <a:p>
            <a:r>
              <a:rPr sz="1800">
                <a:solidFill>
                  <a:srgbClr val="161625"/>
                </a:solidFill>
              </a:rPr>
              <a:t>Comparar pesos con BoW</a:t>
            </a:r>
          </a:p>
          <a:p>
            <a:r>
              <a:rPr sz="1800">
                <a:solidFill>
                  <a:srgbClr val="161625"/>
                </a:solidFill>
              </a:rPr>
              <a:t>Cuándo elegir cada uno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3:40 – 3:50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08 - Text Representation.ipynb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743B"/>
                </a:solidFill>
              </a:rPr>
              <a:t>Caso spam (SMS)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800">
                <a:solidFill>
                  <a:srgbClr val="161625"/>
                </a:solidFill>
              </a:rPr>
              <a:t>Dataset SMS spam (5.572 mensajes)</a:t>
            </a:r>
          </a:p>
          <a:p>
            <a:r>
              <a:rPr sz="1800">
                <a:solidFill>
                  <a:srgbClr val="161625"/>
                </a:solidFill>
              </a:rPr>
              <a:t>4 configuraciones × LogReg — comparar F1 de la clase 'spam'</a:t>
            </a:r>
          </a:p>
          <a:p>
            <a:r>
              <a:rPr sz="1800">
                <a:solidFill>
                  <a:srgbClr val="161625"/>
                </a:solidFill>
              </a:rPr>
              <a:t>Mensaje: para sentiment de Amazon (la práctica), aplica lo mismo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64592"/>
            <a:ext cx="173736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3:50 – 3:55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FFECDE"/>
          </a:solidFill>
          <a:ln w="12700">
            <a:solidFill>
              <a:srgbClr val="FF7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l"/>
            <a:r>
              <a:rPr sz="1400" b="1">
                <a:solidFill>
                  <a:srgbClr val="FF743B"/>
                </a:solidFill>
              </a:rPr>
              <a:t>▶  NOTEBOOK: 08 - Text Representation.ipynb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743B"/>
                </a:solidFill>
              </a:rPr>
              <a:t>Cierre · Ideas clave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161625"/>
                </a:solidFill>
              </a:rPr>
              <a:t>1. Matching = regex + edit distance + fonética según el caso</a:t>
            </a:r>
          </a:p>
          <a:p>
            <a:r>
              <a:rPr sz="1800">
                <a:solidFill>
                  <a:srgbClr val="161625"/>
                </a:solidFill>
              </a:rPr>
              <a:t>2. Visualizar siempre con stopwords filtradas</a:t>
            </a:r>
          </a:p>
          <a:p>
            <a:r>
              <a:rPr sz="1800">
                <a:solidFill>
                  <a:srgbClr val="161625"/>
                </a:solidFill>
              </a:rPr>
              <a:t>3. NER clásico vive de feature engineering</a:t>
            </a:r>
          </a:p>
          <a:p>
            <a:r>
              <a:rPr sz="1800">
                <a:solidFill>
                  <a:srgbClr val="161625"/>
                </a:solidFill>
              </a:rPr>
              <a:t>4. BoW y TF-IDF son tu baseline obligatorio</a:t>
            </a:r>
          </a:p>
          <a:p>
            <a:endParaRPr sz="1800">
              <a:solidFill>
                <a:srgbClr val="161625"/>
              </a:solidFill>
            </a:endParaRPr>
          </a:p>
          <a:p>
            <a:r>
              <a:rPr sz="1600" i="1">
                <a:solidFill>
                  <a:srgbClr val="FF743B"/>
                </a:solidFill>
              </a:rPr>
              <a:t>Próxima clase: Sentiment analysis y topic modeling con LDA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973</Words>
  <Application>Microsoft Office PowerPoint</Application>
  <PresentationFormat>Presentación en pantalla (16:9)</PresentationFormat>
  <Paragraphs>148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3" baseType="lpstr">
      <vt:lpstr>Arial</vt:lpstr>
      <vt:lpstr>Calibri</vt:lpstr>
      <vt:lpstr>Consolas</vt:lpstr>
      <vt:lpstr>Simple Light</vt:lpstr>
      <vt:lpstr>Clase 2 · NLP &amp; Searching</vt:lpstr>
      <vt:lpstr>Agenda</vt:lpstr>
      <vt:lpstr>Recap Clase 1</vt:lpstr>
      <vt:lpstr>Recap rápido</vt:lpstr>
      <vt:lpstr>Notebook 5 · Matching completo</vt:lpstr>
      <vt:lpstr>Presentación de PowerPoint</vt:lpstr>
      <vt:lpstr>Regex</vt:lpstr>
      <vt:lpstr>Distancias de edición</vt:lpstr>
      <vt:lpstr>Matching fonético</vt:lpstr>
      <vt:lpstr>Aplicación: autocompletado tolerante a typos</vt:lpstr>
      <vt:lpstr>Notebook 6 · Visualización</vt:lpstr>
      <vt:lpstr>Presentación de PowerPoint</vt:lpstr>
      <vt:lpstr>Frecuencias y n-grams</vt:lpstr>
      <vt:lpstr>Wordclouds</vt:lpstr>
      <vt:lpstr>Dispersión léxica</vt:lpstr>
      <vt:lpstr>Ley de Zipf</vt:lpstr>
      <vt:lpstr>Notebook 7 · NER con CRFs</vt:lpstr>
      <vt:lpstr>Presentación de PowerPoint</vt:lpstr>
      <vt:lpstr>¿Qué es NER y por qué CRF?</vt:lpstr>
      <vt:lpstr>Setup y feature engineering</vt:lpstr>
      <vt:lpstr>Entrenamiento y evaluación</vt:lpstr>
      <vt:lpstr>Interpretación del modelo</vt:lpstr>
      <vt:lpstr>NER · qué predice un CRF entrenado</vt:lpstr>
      <vt:lpstr>Notebook 8 · BoW y TF-IDF</vt:lpstr>
      <vt:lpstr>Presentación de PowerPoint</vt:lpstr>
      <vt:lpstr>CountVectorizer</vt:lpstr>
      <vt:lpstr>TfidfVectorizer</vt:lpstr>
      <vt:lpstr>Caso spam (SMS)</vt:lpstr>
      <vt:lpstr>Cierre · Ideas clave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marc mayol orell</cp:lastModifiedBy>
  <cp:revision>1</cp:revision>
  <dcterms:modified xsi:type="dcterms:W3CDTF">2026-05-19T16:22:54Z</dcterms:modified>
</cp:coreProperties>
</file>