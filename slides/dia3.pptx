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70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04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Azul" type="title">
  <p:cSld name="TITLE">
    <p:bg>
      <p:bgPr>
        <a:solidFill>
          <a:srgbClr val="1D1D3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Retícula Azul" type="secHead">
  <p:cSld name="SECTION_HEADER">
    <p:bg>
      <p:bgPr>
        <a:solidFill>
          <a:srgbClr val="1D1D3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zul">
  <p:cSld name="SECTION_HEADER_1">
    <p:bg>
      <p:bgPr>
        <a:solidFill>
          <a:srgbClr val="1D1D3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24" name="Google Shape;24;p5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Blanca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263725" y="1010213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cxnSp>
        <p:nvCxnSpPr>
          <p:cNvPr id="30" name="Google Shape;30;p6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1" type="tx">
  <p:cSld name="TITLE_AND_BODY">
    <p:bg>
      <p:bgPr>
        <a:solidFill>
          <a:srgbClr val="1D1D3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00625" y="1080550"/>
            <a:ext cx="38316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7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691850" y="86353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2">
  <p:cSld name="TITLE_AND_BODY_1">
    <p:bg>
      <p:bgPr>
        <a:solidFill>
          <a:srgbClr val="1D1D3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372875" y="88988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D1D30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440300" cy="16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1D1D3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4876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4417075" y="1311300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200"/>
              <a:buChar char="●"/>
              <a:defRPr sz="2200" b="1">
                <a:solidFill>
                  <a:srgbClr val="161625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600"/>
              <a:buChar char="○"/>
              <a:defRPr sz="1600">
                <a:solidFill>
                  <a:srgbClr val="161625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400"/>
              <a:buChar char="■"/>
              <a:defRPr>
                <a:solidFill>
                  <a:srgbClr val="161625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200"/>
              <a:buChar char="●"/>
              <a:defRPr sz="1200">
                <a:solidFill>
                  <a:srgbClr val="161625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000"/>
              <a:buChar char="○"/>
              <a:defRPr sz="1000">
                <a:solidFill>
                  <a:srgbClr val="161625"/>
                </a:solidFill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900"/>
              <a:buChar char="■"/>
              <a:defRPr sz="900">
                <a:solidFill>
                  <a:srgbClr val="161625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800"/>
              <a:buChar char="●"/>
              <a:defRPr sz="800">
                <a:solidFill>
                  <a:srgbClr val="161625"/>
                </a:solidFill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700"/>
              <a:buChar char="○"/>
              <a:defRPr sz="700">
                <a:solidFill>
                  <a:srgbClr val="161625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500"/>
              <a:buChar char="■"/>
              <a:defRPr sz="500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55" name="Google Shape;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MAIN_POINT">
    <p:bg>
      <p:bgPr>
        <a:solidFill>
          <a:srgbClr val="1D1D30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marilla">
  <p:cSld name="MAIN_POINT_1">
    <p:bg>
      <p:bgPr>
        <a:solidFill>
          <a:srgbClr val="1D1D3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7" name="Google Shape;67;p12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" type="blank">
  <p:cSld name="BLANK">
    <p:bg>
      <p:bgPr>
        <a:solidFill>
          <a:srgbClr val="1D1D3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KeepcodingColores_RGB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50" y="1453825"/>
            <a:ext cx="7480151" cy="22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www.keepcoding.io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cursos@keepcoding.io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highlight>
                  <a:srgbClr val="161625"/>
                </a:highlight>
              </a:rPr>
              <a:t>(+34) 916 33 1779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D1D3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4050" y="1017713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  <a:defRPr sz="700">
                <a:solidFill>
                  <a:schemeClr val="lt1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Char char="■"/>
              <a:defRPr sz="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chemeClr val="bg1"/>
                </a:solidFill>
              </a:rPr>
              <a:t>Clase 3 · NLP &amp; Searching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FF743B"/>
                </a:solidFill>
              </a:rPr>
              <a:t>Sentiment Analysis y Topic Modeling · 4h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FF743B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 dirty="0">
                <a:solidFill>
                  <a:srgbClr val="161625"/>
                </a:solidFill>
              </a:rPr>
              <a:t>Recap Clase 2 — 15 min</a:t>
            </a:r>
          </a:p>
          <a:p>
            <a:r>
              <a:rPr sz="1800" dirty="0">
                <a:solidFill>
                  <a:srgbClr val="161625"/>
                </a:solidFill>
              </a:rPr>
              <a:t>Notebook 9 · Sentiment Analysis — 90 min</a:t>
            </a:r>
          </a:p>
          <a:p>
            <a:r>
              <a:rPr sz="1800" dirty="0">
                <a:solidFill>
                  <a:srgbClr val="161625"/>
                </a:solidFill>
              </a:rPr>
              <a:t>Notebook 10 · Topic Modeling con LDA — 105 min</a:t>
            </a:r>
          </a:p>
          <a:p>
            <a:r>
              <a:rPr sz="1800" dirty="0">
                <a:solidFill>
                  <a:srgbClr val="161625"/>
                </a:solidFill>
              </a:rPr>
              <a:t>Cierre y Q&amp;A — 15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Recap Clase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Matching: regex, edit distances, fonética, autocompletado</a:t>
            </a:r>
          </a:p>
          <a:p>
            <a:r>
              <a:rPr sz="1800">
                <a:solidFill>
                  <a:srgbClr val="161625"/>
                </a:solidFill>
              </a:rPr>
              <a:t>Visualización: frecuencias, wordcloud, dispersión, Zipf</a:t>
            </a:r>
          </a:p>
          <a:p>
            <a:r>
              <a:rPr sz="1800">
                <a:solidFill>
                  <a:srgbClr val="161625"/>
                </a:solidFill>
              </a:rPr>
              <a:t>NER con CRFs: feature engineering</a:t>
            </a:r>
          </a:p>
          <a:p>
            <a:r>
              <a:rPr sz="1800">
                <a:solidFill>
                  <a:srgbClr val="161625"/>
                </a:solidFill>
              </a:rPr>
              <a:t>BoW vs TF-IDF</a:t>
            </a:r>
          </a:p>
          <a:p>
            <a:r>
              <a:rPr sz="1800">
                <a:solidFill>
                  <a:srgbClr val="161625"/>
                </a:solidFill>
              </a:rPr>
              <a:t>Pregunta: ¿alguien ha hecho el EDA de la práctica?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0:00 – 0:15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9 · Sentiment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90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9 · Sentiment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notebooks/09 - Sentiment Analysis.ipynb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Pipeline completo de clasificación binaria sobre reviews de cine</a:t>
            </a:r>
          </a:p>
          <a:p>
            <a:r>
              <a:rPr sz="1600">
                <a:solidFill>
                  <a:srgbClr val="161625"/>
                </a:solidFill>
              </a:rPr>
              <a:t>•  TF-IDF + LogReg + tuning de C + análisis de errores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0:15 – 0:30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Setup y conversión binaria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Cargar reviews_dict, montar dataframe</a:t>
            </a:r>
          </a:p>
          <a:p>
            <a:r>
              <a:rPr sz="1800">
                <a:solidFill>
                  <a:srgbClr val="161625"/>
                </a:solidFill>
              </a:rPr>
              <a:t>Decisión clave: sentimiento &lt; 3 → label=1 (negativo). Justificar</a:t>
            </a:r>
          </a:p>
          <a:p>
            <a:r>
              <a:rPr sz="1800">
                <a:solidFill>
                  <a:srgbClr val="161625"/>
                </a:solidFill>
              </a:rPr>
              <a:t>Stratified train/test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0:15 – 0:30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09 - Sentiment Analysis.ipynb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TF-IDF vectorizer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Recordar la teoría del NB8</a:t>
            </a:r>
          </a:p>
          <a:p>
            <a:r>
              <a:rPr sz="1800">
                <a:solidFill>
                  <a:srgbClr val="161625"/>
                </a:solidFill>
              </a:rPr>
              <a:t>Configurar: max_features=2500, min_df=5, max_df=0.95</a:t>
            </a:r>
          </a:p>
          <a:p>
            <a:r>
              <a:rPr sz="1800">
                <a:solidFill>
                  <a:srgbClr val="161625"/>
                </a:solidFill>
              </a:rPr>
              <a:t>Inspeccionar IDF de palabras conocidas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Pregunta: ¿qué pasa con 'y', 'de', 'que'?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0:30 – 0:50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09 - Sentiment Analysis.ipynb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Chi² para features discriminativas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Plot horizontal de top-20 χ²</a:t>
            </a:r>
          </a:p>
          <a:p>
            <a:r>
              <a:rPr sz="1800">
                <a:solidFill>
                  <a:srgbClr val="161625"/>
                </a:solidFill>
              </a:rPr>
              <a:t>Discutir: palabras polarizadas, sesgos del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0:50 – 1:05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09 - Sentiment Analysis.ipynb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Entrenamiento LogReg + búsqueda de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Iterar sobre C = [0.01 … 10000]</a:t>
            </a:r>
          </a:p>
          <a:p>
            <a:r>
              <a:rPr sz="1800">
                <a:solidFill>
                  <a:srgbClr val="161625"/>
                </a:solidFill>
              </a:rPr>
              <a:t>Plot train vs test accuracy — identificar el codo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Pitfall: data leakage al seleccionar C en test (CV sería más correcto)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1:05 – 1:30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09 - Sentiment Analysis.ipynb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Métricas y análisis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Matriz de confusión y classification report</a:t>
            </a:r>
          </a:p>
          <a:p>
            <a:r>
              <a:rPr sz="1800">
                <a:solidFill>
                  <a:srgbClr val="161625"/>
                </a:solidFill>
              </a:rPr>
              <a:t>Curva precision-recall vs threshold</a:t>
            </a:r>
          </a:p>
          <a:p>
            <a:r>
              <a:rPr sz="1800">
                <a:solidFill>
                  <a:srgbClr val="161625"/>
                </a:solidFill>
              </a:rPr>
              <a:t>Demo: predecir 3 frases inventadas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1:30 – 1:45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09 - Sentiment Analysis.ipynb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625"/>
                </a:solidFill>
              </a:rPr>
              <a:t>Lo que vamos a ver hoy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03_sentiment_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6" y="1554480"/>
            <a:ext cx="7863840" cy="29792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350893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595959"/>
                </a:solidFill>
              </a:rPr>
              <a:t>Izquierda: clasificación binaria de sentimiento · Derecha: mezcla de topics con LDA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10 · Topic Modeling con LDA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105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350000"/>
            <a:ext cx="6900000" cy="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FF743B"/>
                </a:solidFill>
              </a:rPr>
              <a:t>Introducción · Topic Modeling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00" y="1150000"/>
            <a:ext cx="8000000" cy="3500000"/>
          </a:xfrm>
          <a:prstGeom prst="rect">
            <a:avLst/>
          </a:prstGeom>
        </p:spPr>
        <p:txBody>
          <a:bodyPr wrap="square" anchor="t"/>
          <a:lstStyle/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Conjunto de técnicas para descubrir estructuras latentes semánticas (topics) comunes en una colección de documentos.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Surge del problema: ¿cómo sintetizar la información en una colección grande de documentos semi-estructurados?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Algoritmo de referencia: Latent Dirichlet Allocation (LDA).</a:t>
            </a:r>
          </a:p>
        </p:txBody>
      </p:sp>
      <p:sp>
        <p:nvSpPr>
          <p:cNvPr id="4" name="TimeBox"/>
          <p:cNvSpPr txBox="1"/>
          <p:nvPr/>
        </p:nvSpPr>
        <p:spPr>
          <a:xfrm>
            <a:off x="600000" y="4720000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</a:rPr>
              <a:t>2:00 – 2:05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350000"/>
            <a:ext cx="6900000" cy="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FF743B"/>
                </a:solidFill>
              </a:rPr>
              <a:t>Idea principal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00" y="1150000"/>
            <a:ext cx="4250000" cy="3500000"/>
          </a:xfrm>
          <a:prstGeom prst="rect">
            <a:avLst/>
          </a:prstGeom>
        </p:spPr>
        <p:txBody>
          <a:bodyPr wrap="square" anchor="t"/>
          <a:lstStyle/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Cada documento es una mezcla de topics.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Cada topic es una distribución de palabras.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Los colores son las asignaciones latentes que el modelo aprende.</a:t>
            </a:r>
          </a:p>
        </p:txBody>
      </p:sp>
      <p:sp>
        <p:nvSpPr>
          <p:cNvPr id="4" name="TimeBox"/>
          <p:cNvSpPr txBox="1"/>
          <p:nvPr/>
        </p:nvSpPr>
        <p:spPr>
          <a:xfrm>
            <a:off x="600000" y="4720000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</a:rPr>
              <a:t>2:05 – 2:08</a:t>
            </a:r>
          </a:p>
        </p:txBody>
      </p:sp>
      <p:pic>
        <p:nvPicPr>
          <p:cNvPr id="5" name="Picture 4" descr="p03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00" y="1300000"/>
            <a:ext cx="3800000" cy="20259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00000" y="3365937"/>
            <a:ext cx="3800000" cy="28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Blei — “Probabilistic topic models” (2012)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350000"/>
            <a:ext cx="6900000" cy="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FF743B"/>
                </a:solidFill>
              </a:rPr>
              <a:t>Idea principal ·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00" y="1150000"/>
            <a:ext cx="4250000" cy="3500000"/>
          </a:xfrm>
          <a:prstGeom prst="rect">
            <a:avLst/>
          </a:prstGeom>
        </p:spPr>
        <p:txBody>
          <a:bodyPr wrap="square" anchor="t"/>
          <a:lstStyle/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Entrada: corpus de documentos.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Salida 1 · topics: clusters de palabras.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Salida 2 · topic: frecuencia de palabras.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Salida 3 · documento: distribución de topics.</a:t>
            </a:r>
          </a:p>
        </p:txBody>
      </p:sp>
      <p:sp>
        <p:nvSpPr>
          <p:cNvPr id="4" name="TimeBox"/>
          <p:cNvSpPr txBox="1"/>
          <p:nvPr/>
        </p:nvSpPr>
        <p:spPr>
          <a:xfrm>
            <a:off x="600000" y="4720000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</a:rPr>
              <a:t>2:08 – 2:11</a:t>
            </a:r>
          </a:p>
        </p:txBody>
      </p:sp>
      <p:pic>
        <p:nvPicPr>
          <p:cNvPr id="5" name="Picture 4" descr="p04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00" y="1300000"/>
            <a:ext cx="3800000" cy="21788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350000"/>
            <a:ext cx="6900000" cy="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FF743B"/>
                </a:solidFill>
              </a:rPr>
              <a:t>LDA · Latent Dirichlet Allocation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00" y="1150000"/>
            <a:ext cx="8000000" cy="3500000"/>
          </a:xfrm>
          <a:prstGeom prst="rect">
            <a:avLst/>
          </a:prstGeom>
        </p:spPr>
        <p:txBody>
          <a:bodyPr wrap="square" anchor="t"/>
          <a:lstStyle/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Modelo probabilístico generativo.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Aprendizaje no supervisado: no conocemos los topics a priori ni están etiquetados.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Hipótesis del modelo:</a:t>
            </a:r>
          </a:p>
          <a:p>
            <a:pPr marL="600000" lvl="1" indent="-250000">
              <a:buClr>
                <a:srgbClr val="FF743B"/>
              </a:buClr>
              <a:buChar char="–"/>
            </a:pPr>
            <a:r>
              <a:rPr sz="1500">
                <a:solidFill>
                  <a:srgbClr val="161625"/>
                </a:solidFill>
              </a:rPr>
              <a:t>Documentos con topics similares usan palabras similares.</a:t>
            </a:r>
          </a:p>
          <a:p>
            <a:pPr marL="600000" lvl="1" indent="-250000">
              <a:buClr>
                <a:srgbClr val="FF743B"/>
              </a:buClr>
              <a:buChar char="–"/>
            </a:pPr>
            <a:r>
              <a:rPr sz="1500">
                <a:solidFill>
                  <a:srgbClr val="161625"/>
                </a:solidFill>
              </a:rPr>
              <a:t>Cada documento se compone de un conjunto de topics que siguen una distribución.</a:t>
            </a:r>
          </a:p>
          <a:p>
            <a:pPr marL="600000" lvl="1" indent="-250000">
              <a:buClr>
                <a:srgbClr val="FF743B"/>
              </a:buClr>
              <a:buChar char="–"/>
            </a:pPr>
            <a:r>
              <a:rPr sz="1500">
                <a:solidFill>
                  <a:srgbClr val="161625"/>
                </a:solidFill>
              </a:rPr>
              <a:t>Cada topic se compone de un conjunto de palabras que siguen una distribución.</a:t>
            </a:r>
          </a:p>
        </p:txBody>
      </p:sp>
      <p:sp>
        <p:nvSpPr>
          <p:cNvPr id="4" name="TimeBox"/>
          <p:cNvSpPr txBox="1"/>
          <p:nvPr/>
        </p:nvSpPr>
        <p:spPr>
          <a:xfrm>
            <a:off x="600000" y="4720000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</a:rPr>
              <a:t>2:11 – 2:15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350000"/>
            <a:ext cx="6900000" cy="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FF743B"/>
                </a:solidFill>
              </a:rPr>
              <a:t>LDA · Consideraciones prácticas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00" y="1150000"/>
            <a:ext cx="8000000" cy="3500000"/>
          </a:xfrm>
          <a:prstGeom prst="rect">
            <a:avLst/>
          </a:prstGeom>
        </p:spPr>
        <p:txBody>
          <a:bodyPr wrap="square" anchor="t"/>
          <a:lstStyle/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El vocabulario debe fijarse al inicio (Dictionary).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Conviene preprocesar: eliminar stopwords mejora bastante los resultados.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Representación de entrada: Bag-of-Words.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Hay que definir K (número de topics) — igual que con k-means.</a:t>
            </a:r>
          </a:p>
        </p:txBody>
      </p:sp>
      <p:sp>
        <p:nvSpPr>
          <p:cNvPr id="4" name="TimeBox"/>
          <p:cNvSpPr txBox="1"/>
          <p:nvPr/>
        </p:nvSpPr>
        <p:spPr>
          <a:xfrm>
            <a:off x="600000" y="4720000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</a:rPr>
              <a:t>2:15 – 2:20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350000"/>
            <a:ext cx="6900000" cy="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FF743B"/>
                </a:solidFill>
              </a:rPr>
              <a:t>LDA · Parámetros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00" y="1150000"/>
            <a:ext cx="4250000" cy="3500000"/>
          </a:xfrm>
          <a:prstGeom prst="rect">
            <a:avLst/>
          </a:prstGeom>
        </p:spPr>
        <p:txBody>
          <a:bodyPr wrap="square" anchor="t"/>
          <a:lstStyle/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M — número de documentos del corpus.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N — número de palabras del documento m.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K — número de topics (lo fijamos nosotros).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α — densidad doc–topic.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β — densidad topic–word.</a:t>
            </a:r>
          </a:p>
        </p:txBody>
      </p:sp>
      <p:sp>
        <p:nvSpPr>
          <p:cNvPr id="4" name="TimeBox"/>
          <p:cNvSpPr txBox="1"/>
          <p:nvPr/>
        </p:nvSpPr>
        <p:spPr>
          <a:xfrm>
            <a:off x="600000" y="4720000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</a:rPr>
              <a:t>2:20 – 2:25</a:t>
            </a:r>
          </a:p>
        </p:txBody>
      </p:sp>
      <p:pic>
        <p:nvPicPr>
          <p:cNvPr id="5" name="Picture 4" descr="p07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223" y="1150000"/>
            <a:ext cx="3547554" cy="1750000"/>
          </a:xfrm>
          <a:prstGeom prst="rect">
            <a:avLst/>
          </a:prstGeom>
        </p:spPr>
      </p:pic>
      <p:pic>
        <p:nvPicPr>
          <p:cNvPr id="6" name="Picture 5" descr="p07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725" y="3050000"/>
            <a:ext cx="2198550" cy="123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0725" y="4320000"/>
            <a:ext cx="2198550" cy="28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Matrix Factorization Interpretation of LDA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00" y="350000"/>
            <a:ext cx="6900000" cy="7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FF743B"/>
                </a:solidFill>
              </a:rPr>
              <a:t>LDA · Distribuciones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0000" y="1150000"/>
            <a:ext cx="4250000" cy="3500000"/>
          </a:xfrm>
          <a:prstGeom prst="rect">
            <a:avLst/>
          </a:prstGeom>
        </p:spPr>
        <p:txBody>
          <a:bodyPr wrap="square" anchor="t"/>
          <a:lstStyle/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θd — distribución de topics dentro del documento d.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φk — distribución de palabras dentro del topic k.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Ambas se aprenden conjuntamente por inferencia bayesiana.</a:t>
            </a:r>
          </a:p>
          <a:p>
            <a:pPr marL="250000" lvl="0" indent="-250000">
              <a:buClr>
                <a:srgbClr val="FF743B"/>
              </a:buClr>
              <a:buChar char="▸"/>
            </a:pPr>
            <a:r>
              <a:rPr sz="1800">
                <a:solidFill>
                  <a:srgbClr val="161625"/>
                </a:solidFill>
              </a:rPr>
              <a:t>Cada documento queda descrito como un vector de topics.</a:t>
            </a:r>
          </a:p>
        </p:txBody>
      </p:sp>
      <p:sp>
        <p:nvSpPr>
          <p:cNvPr id="4" name="TimeBox"/>
          <p:cNvSpPr txBox="1"/>
          <p:nvPr/>
        </p:nvSpPr>
        <p:spPr>
          <a:xfrm>
            <a:off x="600000" y="4720000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100" i="1">
                <a:solidFill>
                  <a:srgbClr val="595959"/>
                </a:solidFill>
              </a:rPr>
              <a:t>2:25 – 2:30</a:t>
            </a:r>
          </a:p>
        </p:txBody>
      </p:sp>
      <p:pic>
        <p:nvPicPr>
          <p:cNvPr id="5" name="Picture 4" descr="p08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643" y="1150000"/>
            <a:ext cx="1810714" cy="143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643" y="2620000"/>
            <a:ext cx="1810714" cy="28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Document d → topics</a:t>
            </a:r>
          </a:p>
        </p:txBody>
      </p:sp>
      <p:pic>
        <p:nvPicPr>
          <p:cNvPr id="7" name="Picture 6" descr="p08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728" y="3050000"/>
            <a:ext cx="1386545" cy="12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6728" y="4320000"/>
            <a:ext cx="1386545" cy="28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Topic k → words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10 · Topic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notebooks/10 - Topic Modeling.ipynb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LDA con gensim sobre corpus de cine</a:t>
            </a:r>
          </a:p>
          <a:p>
            <a:r>
              <a:rPr sz="1600">
                <a:solidFill>
                  <a:srgbClr val="161625"/>
                </a:solidFill>
              </a:rPr>
              <a:t>•  Coherence score para elegir num_topics + visualización con pyLDAvis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2:00 – 2:15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Preprocesado agresivo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simple_preprocess, lowercase, dedup</a:t>
            </a:r>
          </a:p>
          <a:p>
            <a:r>
              <a:rPr sz="1800">
                <a:solidFill>
                  <a:srgbClr val="161625"/>
                </a:solidFill>
              </a:rPr>
              <a:t>Stopwords combinadas (ES + EN)</a:t>
            </a:r>
          </a:p>
          <a:p>
            <a:r>
              <a:rPr sz="1800">
                <a:solidFill>
                  <a:srgbClr val="161625"/>
                </a:solidFill>
              </a:rPr>
              <a:t>Filtrar tokens &lt; 3 chars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10 - Topic Modeling.ipynb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Dictionary y corpus BoW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Dictionary.filter_extremes(no_below=15, no_above=0.5)</a:t>
            </a:r>
          </a:p>
          <a:p>
            <a:r>
              <a:rPr sz="1800">
                <a:solidFill>
                  <a:srgbClr val="161625"/>
                </a:solidFill>
              </a:rPr>
              <a:t>Mostrar tamaño del vocabulario antes y después</a:t>
            </a:r>
          </a:p>
          <a:p>
            <a:r>
              <a:rPr sz="1800">
                <a:solidFill>
                  <a:srgbClr val="161625"/>
                </a:solidFill>
              </a:rPr>
              <a:t>doc2bow y qué devuelve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10 - Topic Modeling.ipynb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Entrenar LDA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LdaModel(corpus, id2word, num_topics=10, passes=10, alpha='auto')</a:t>
            </a:r>
          </a:p>
          <a:p>
            <a:r>
              <a:rPr sz="1800">
                <a:solidFill>
                  <a:srgbClr val="161625"/>
                </a:solidFill>
              </a:rPr>
              <a:t>print_topics(num_words=10) y nombrar a ojo cada topic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Si cuesta nombrarlos, num_topics es demasiado alto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2:55 – 3:15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10 - Topic Modeling.ipynb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Coherence Score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CoherenceModel(coherence='c_v')</a:t>
            </a:r>
          </a:p>
          <a:p>
            <a:r>
              <a:rPr sz="1800">
                <a:solidFill>
                  <a:srgbClr val="161625"/>
                </a:solidFill>
              </a:rPr>
              <a:t>Probar [5, 7, 10, 15, 20] y plotear</a:t>
            </a:r>
          </a:p>
          <a:p>
            <a:r>
              <a:rPr sz="1800">
                <a:solidFill>
                  <a:srgbClr val="161625"/>
                </a:solidFill>
              </a:rPr>
              <a:t>Elegir el máximo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10 - Topic Modeling.ipynb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Visualización con pyLDAvis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pyLDAvis.gensim_models.prepare(lda, corpus, dictionary)</a:t>
            </a:r>
          </a:p>
          <a:p>
            <a:r>
              <a:rPr sz="1800">
                <a:solidFill>
                  <a:srgbClr val="161625"/>
                </a:solidFill>
              </a:rPr>
              <a:t>Demo interactiva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λ = 0.6 → sweet spot para etiquetar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10 - Topic Modeling.ipynb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743B"/>
                </a:solidFill>
              </a:rPr>
              <a:t>Cierre · Ideas clave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161625"/>
                </a:solidFill>
              </a:rPr>
              <a:t>1. TF-IDF + LogReg es un baseline brutal de sentiment</a:t>
            </a:r>
          </a:p>
          <a:p>
            <a:r>
              <a:rPr sz="1800">
                <a:solidFill>
                  <a:srgbClr val="161625"/>
                </a:solidFill>
              </a:rPr>
              <a:t>2. χ² es tu mejor amigo para entender qué aprende el modelo</a:t>
            </a:r>
          </a:p>
          <a:p>
            <a:r>
              <a:rPr sz="1800">
                <a:solidFill>
                  <a:srgbClr val="161625"/>
                </a:solidFill>
              </a:rPr>
              <a:t>3. LDA funciona si haces un preprocesado agresivo</a:t>
            </a:r>
          </a:p>
          <a:p>
            <a:r>
              <a:rPr sz="1800">
                <a:solidFill>
                  <a:srgbClr val="161625"/>
                </a:solidFill>
              </a:rPr>
              <a:t>4. Coherence Score &gt; intuición para elegir num_topics</a:t>
            </a:r>
          </a:p>
          <a:p>
            <a:r>
              <a:rPr sz="1800">
                <a:solidFill>
                  <a:srgbClr val="161625"/>
                </a:solidFill>
              </a:rPr>
              <a:t>5. Alternativas modernas: BERTopic, NMF</a:t>
            </a:r>
          </a:p>
          <a:p>
            <a:endParaRPr sz="1800">
              <a:solidFill>
                <a:srgbClr val="161625"/>
              </a:solidFill>
            </a:endParaRPr>
          </a:p>
          <a:p>
            <a:r>
              <a:rPr sz="1600" i="1">
                <a:solidFill>
                  <a:srgbClr val="FF743B"/>
                </a:solidFill>
              </a:rPr>
              <a:t>Próxima clase: Word Embeddings: Word2Vec, FastText y visualización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Microsoft Office PowerPoint</Application>
  <PresentationFormat>Presentación en pantalla (16:9)</PresentationFormat>
  <Paragraphs>143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Simple Light</vt:lpstr>
      <vt:lpstr>Clase 3 · NLP &amp; Searching</vt:lpstr>
      <vt:lpstr>Agenda</vt:lpstr>
      <vt:lpstr>Recap Clase 2</vt:lpstr>
      <vt:lpstr>Notebook 9 · Sentiment Analysis</vt:lpstr>
      <vt:lpstr>Presentación de PowerPoint</vt:lpstr>
      <vt:lpstr>Setup y conversión binaria</vt:lpstr>
      <vt:lpstr>TF-IDF vectorizer</vt:lpstr>
      <vt:lpstr>Chi² para features discriminativas</vt:lpstr>
      <vt:lpstr>Entrenamiento LogReg + búsqueda de C</vt:lpstr>
      <vt:lpstr>Métricas y análisis</vt:lpstr>
      <vt:lpstr>Lo que vamos a ver hoy</vt:lpstr>
      <vt:lpstr>Notebook 10 · Topic Modeling con LDA</vt:lpstr>
      <vt:lpstr>Introducción · Topic Modeling</vt:lpstr>
      <vt:lpstr>Idea principal</vt:lpstr>
      <vt:lpstr>Idea principal · pipeline</vt:lpstr>
      <vt:lpstr>LDA · Latent Dirichlet Allocation</vt:lpstr>
      <vt:lpstr>LDA · Consideraciones prácticas</vt:lpstr>
      <vt:lpstr>LDA · Parámetros</vt:lpstr>
      <vt:lpstr>LDA · Distribuciones</vt:lpstr>
      <vt:lpstr>Presentación de PowerPoint</vt:lpstr>
      <vt:lpstr>Preprocesado agresivo</vt:lpstr>
      <vt:lpstr>Dictionary y corpus BoW</vt:lpstr>
      <vt:lpstr>Entrenar LDA</vt:lpstr>
      <vt:lpstr>Coherence Score</vt:lpstr>
      <vt:lpstr>Visualización con pyLDAvis</vt:lpstr>
      <vt:lpstr>Cierre · Ideas clave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 mayol orell</cp:lastModifiedBy>
  <cp:revision>1</cp:revision>
  <dcterms:modified xsi:type="dcterms:W3CDTF">2026-05-21T16:34:47Z</dcterms:modified>
</cp:coreProperties>
</file>