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Presentación de apoyo para dar la clase. La explicación detallada de cada diapositiva está en el PDF 'Deep Learning en NLP - Guia para dar la clase'.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 de partida: texto → números, y el orden importa. Esto motiva las redes recurrentes. Ejemplo en pizarra: 'no me gustó' vs 'me gustó'.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RNN = memoria secuencial. El estado se pasa de un paso al siguiente. Parámetros compartidos: una sola celda reutilizada.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Vanishing gradient = la causa de la memoria corta. Anticipar: en el NB14, SimpleRNN saca 69%, peor incluso que el baseline clásico. Es la prueba en vivo.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Puertas = grifos 0..1 que gestionan la memoria. LSTM 3 puertas + celda; GRU 2 puertas, más rápida. Ambas resuelven el vanishing gradient.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la teoría con los dos notebooks: NB14 = many-to-one; NB15 = many-to-many.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Paréntesis teórico (lo pidió un alumno). ASR = audio→texto (Siri/Google/Alexa). MFCC clásico, DNN moderno. Dejar claro desde el principio: NO hay práctica de esto, solo la idea.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Onda = difícil de usar ('con esto no podemos hacer nada'). Espectrograma = tiempo+frecuencia, lo que entra al modelo. El paso onda→espectrograma se hace con la transformada de Fourier (lo aportó un alumno).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pasos: feature extraction (→espectrograma), modelo acústico (probabilidades por instante), decodificación (→texto). Conectar con la softmax/probabilidades del traductor.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Varias arquitecturas: RNN por instante; RNN + TimeDistributed Dense (linealidad temporal); RNN apiladas; CNN+RNN. La profe reconoció poca experiencia práctica con audio. Conectar TimeDistributed con NB15.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NB14. Dataset IMDb 50k balanceado. La gracia es comparar clásico vs deep learning sobre el mismo problema.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Explorar = entender el problema. El detalle de 'good' en críticas negativas justifica todo el salto a deep learning. Zipf: curiosidad universal del lenguaje.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Pipeline clásico de limpieza. Mencionar que esto se cachea con pickle porque es lento sobre 50k textos.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BoW = contar palabras. Vector disperso de 5000. Sus dos pecados (orden y significado) son justo lo que arreglará el deep learning.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79,1% es la marca a batir. Insistir en la idea de baseline: nos da un objetivo y realismo.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dos ideas del deep learning atacan exactamente los dos pecados del BoW: embeddings (significado) y RNN (orden). Keras ya da el IMDb como enteros.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Padding = igualar longitudes. Justificar el 500 con la media (239) vs máximo (2494). Es un hiperparámetro.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Embed → LSTM → Sigmoid, justo el dibujo de la teoría. El embedding se aprende; la sigmoide da la probabilidad de 'positivo'.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loss vs metric (la red optimiza la loss, la accuracy es para humanos). 1 época por agilidad; en real 5-10.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momento estrella de la clase: comparar las tres. SimpleRNN por debajo del baseline demuestra el vanishing gradient. Conectar con la diapositiva de teoría del gradiente.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word2vec congelado. Lección: más sofisticado no siempre es mejor; los preentrenados ayudan sobre todo con pocos datos. Mencionar dropout como regularización.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NB14 con el marcador. La moraleja: la arquitectura y la representación del texto marcan el techo.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NB15. Cambio de chip: la salida es una secuencia, no una clase. Europarl EN→FR. Iremos subiendo de complejidad.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Dos tokenizadores (uno por idioma). Padding igual que en NB14. Reshape para meterlo en la RNN.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TimeDistributed Dense = la pieza central. return_sequences=True para sacar salida en cada paso. softmax = probabilidades de palabra.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Mejoras incrementales: embedding (significado) y bidireccional (contexto en ambos sentidos). Mismo patrón de base.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Encoder-decoder con la analogía del intérprete. Mencionar bottleneck → atención → Transformers como puente al futuro/siguiente clase.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Cierre. Recap de las 5 ideas. Dejar enganchado el tema de atención/Transformers para la siguiente sesión.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8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" type="title">
  <p:cSld name="TITLE">
    <p:bg>
      <p:bgPr>
        <a:solidFill>
          <a:srgbClr val="1D1D3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b="1" sz="2800">
                <a:solidFill>
                  <a:srgbClr val="1D1D30"/>
                </a:solidFill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Retícula Azul" type="secHead">
  <p:cSld name="SECTION_HEADER">
    <p:bg>
      <p:bgPr>
        <a:solidFill>
          <a:srgbClr val="1D1D3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Azul">
  <p:cSld name="SECTION_HEADER_1">
    <p:bg>
      <p:bgPr>
        <a:solidFill>
          <a:srgbClr val="1D1D3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blanc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24" name="Google Shape;24;p5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Blanca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b="1" sz="3200">
                <a:solidFill>
                  <a:srgbClr val="1D1D30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263725" y="1010213"/>
            <a:ext cx="4222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/>
        </p:txBody>
      </p:sp>
      <p:cxnSp>
        <p:nvCxnSpPr>
          <p:cNvPr id="30" name="Google Shape;30;p6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V1" type="tx">
  <p:cSld name="TITLE_AND_BODY">
    <p:bg>
      <p:bgPr>
        <a:solidFill>
          <a:srgbClr val="1D1D3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00625" y="1080550"/>
            <a:ext cx="3831600" cy="17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5" name="Google Shape;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7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691850" y="863538"/>
            <a:ext cx="4222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V2">
  <p:cSld name="TITLE_AND_BODY_1">
    <p:bg>
      <p:bgPr>
        <a:solidFill>
          <a:srgbClr val="1D1D3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/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9pPr>
          </a:lstStyle>
          <a:p/>
        </p:txBody>
      </p:sp>
      <p:pic>
        <p:nvPicPr>
          <p:cNvPr id="41" name="Google Shape;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4372875" y="889888"/>
            <a:ext cx="42225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1D1D3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/>
          <p:nvPr>
            <p:ph type="title"/>
          </p:nvPr>
        </p:nvSpPr>
        <p:spPr>
          <a:xfrm>
            <a:off x="311700" y="445025"/>
            <a:ext cx="4440300" cy="16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b="1" sz="3200">
                <a:solidFill>
                  <a:srgbClr val="161625"/>
                </a:solidFill>
              </a:defRPr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1D1D3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311700" y="555600"/>
            <a:ext cx="48768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4417075" y="1311300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200"/>
              <a:buChar char="●"/>
              <a:defRPr b="1" sz="2200">
                <a:solidFill>
                  <a:srgbClr val="161625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600"/>
              <a:buChar char="○"/>
              <a:defRPr sz="1600">
                <a:solidFill>
                  <a:srgbClr val="161625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400"/>
              <a:buChar char="■"/>
              <a:defRPr>
                <a:solidFill>
                  <a:srgbClr val="161625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200"/>
              <a:buChar char="●"/>
              <a:defRPr sz="1200">
                <a:solidFill>
                  <a:srgbClr val="161625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000"/>
              <a:buChar char="○"/>
              <a:defRPr sz="1000">
                <a:solidFill>
                  <a:srgbClr val="161625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900"/>
              <a:buChar char="■"/>
              <a:defRPr sz="900">
                <a:solidFill>
                  <a:srgbClr val="161625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800"/>
              <a:buChar char="●"/>
              <a:defRPr sz="800">
                <a:solidFill>
                  <a:srgbClr val="161625"/>
                </a:solidFill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700"/>
              <a:buChar char="○"/>
              <a:defRPr sz="700">
                <a:solidFill>
                  <a:srgbClr val="161625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500"/>
              <a:buChar char="■"/>
              <a:defRPr sz="500">
                <a:solidFill>
                  <a:srgbClr val="161625"/>
                </a:solidFill>
              </a:defRPr>
            </a:lvl9pPr>
          </a:lstStyle>
          <a:p/>
        </p:txBody>
      </p:sp>
      <p:pic>
        <p:nvPicPr>
          <p:cNvPr id="55" name="Google Shape;5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57" name="Google Shape;57;p10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blanca">
  <p:cSld name="MAIN_POINT">
    <p:bg>
      <p:bgPr>
        <a:solidFill>
          <a:srgbClr val="1D1D3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b="70" l="0" r="0" t="70"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62" name="Google Shape;62;p11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 amarilla">
  <p:cSld name="MAIN_POINT_1">
    <p:bg>
      <p:bgPr>
        <a:solidFill>
          <a:srgbClr val="1D1D3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67" name="Google Shape;67;p12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cap="flat" cmpd="sng" w="9525">
            <a:solidFill>
              <a:srgbClr val="FF743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blank">
  <p:cSld name="BLANK">
    <p:bg>
      <p:bgPr>
        <a:solidFill>
          <a:srgbClr val="1D1D3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KeepcodingColores_RGB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50" y="1453825"/>
            <a:ext cx="7480151" cy="22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www.keepcoding.io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cursos@keepcoding.io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highlight>
                  <a:srgbClr val="161625"/>
                </a:highlight>
              </a:rPr>
              <a:t>(+34) 916 33 1779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D1D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14050" y="1017713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  <a:defRPr sz="700">
                <a:solidFill>
                  <a:schemeClr val="lt1"/>
                </a:solidFill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 sz="600">
                <a:solidFill>
                  <a:schemeClr val="lt1"/>
                </a:solidFill>
              </a:defRPr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Char char="■"/>
              <a:defRPr sz="500">
                <a:solidFill>
                  <a:schemeClr val="lt1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en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500">
                <a:solidFill>
                  <a:srgbClr val="D3D6DD"/>
                </a:solidFill>
              </a:rPr>
              <a:t>Análisis de sentimiento (Notebook 14)  ·  Traducción automática (Notebook 15)  ·  Teoría: RNN, LSTM, GRU y seq2seq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417320"/>
            <a:ext cx="6583680" cy="1920240"/>
          </a:xfrm>
          <a:prstGeom prst="rect">
            <a:avLst/>
          </a:prstGeom>
          <a:solidFill>
            <a:srgbClr val="FF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6035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2A"/>
                </a:solidFill>
                <a:latin typeface="Calibri"/>
              </a:rPr>
              <a:t>PARTE 1</a:t>
            </a:r>
          </a:p>
          <a:p>
            <a:r>
              <a:rPr sz="2600" b="1">
                <a:solidFill>
                  <a:srgbClr val="1A1A2A"/>
                </a:solidFill>
                <a:latin typeface="Calibri"/>
              </a:rPr>
              <a:t>Teoría: redes neuronales para texto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El reto del lenguaje: texto a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8229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Una red solo entiende números, no palabras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Texto → tokens → vectores (embeddings)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En el lenguaje el ORDEN importa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'no me gustó' ≠ 'me gustó'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RNN: redes con memoria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Procesan la frase palabra a palabra, en orden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Arrastran un 'estado' (memoria) de un paso al siguiente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Misma red repetida en el tiempo (parámetros compartidos)</a:t>
            </a:r>
          </a:p>
        </p:txBody>
      </p:sp>
      <p:pic>
        <p:nvPicPr>
          <p:cNvPr id="4" name="Picture 3" descr="rnn_un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973" y="2560320"/>
            <a:ext cx="5546053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El problema del gradiente que se desvanece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Las RNN simples tienen memoria CORTA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En frases largas 'olvidan' el principio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Causa técnica: el gradiente se hace casi 0 al entrenar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Lo veremos EN VIVO en el NB14 con SimpleRNN</a:t>
            </a:r>
          </a:p>
        </p:txBody>
      </p:sp>
      <p:pic>
        <p:nvPicPr>
          <p:cNvPr id="4" name="Picture 3" descr="vanis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738" y="2560320"/>
            <a:ext cx="3614522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LSTM y GRU: memoria con puertas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Añaden 'puertas' que deciden qué recordar y qué olvidar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LSTM: 3 puertas + celda de memoria (largo plazo)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GRU: 2 puertas, más simple y rápida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Resuelven el gradiente que se desvanece</a:t>
            </a:r>
          </a:p>
        </p:txBody>
      </p:sp>
      <p:pic>
        <p:nvPicPr>
          <p:cNvPr id="4" name="Picture 3" descr="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253" y="2560320"/>
            <a:ext cx="5139493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Tipos de RNN: las dos formas de esta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muchos-a-uno: leer una secuencia → una respuesta (NB14, sentimiento)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muchos-a-muchos: una secuencia → otra secuencia (NB15, traducción)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Elegir el tipo según entrada y salida</a:t>
            </a:r>
          </a:p>
        </p:txBody>
      </p:sp>
      <p:pic>
        <p:nvPicPr>
          <p:cNvPr id="4" name="Picture 3" descr="tipos_r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644" y="2560320"/>
            <a:ext cx="425071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417320"/>
            <a:ext cx="6583680" cy="1920240"/>
          </a:xfrm>
          <a:prstGeom prst="rect">
            <a:avLst/>
          </a:prstGeom>
          <a:solidFill>
            <a:srgbClr val="FF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6035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2A"/>
                </a:solidFill>
                <a:latin typeface="Calibri"/>
              </a:rPr>
              <a:t>PARTE 2</a:t>
            </a:r>
          </a:p>
          <a:p>
            <a:r>
              <a:rPr sz="2600" b="1">
                <a:solidFill>
                  <a:srgbClr val="1A1A2A"/>
                </a:solidFill>
                <a:latin typeface="Calibri"/>
              </a:rPr>
              <a:t>Speech Recognition (teoría, sin práctica)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Reconocimiento de voz (ASR)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8229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ASR (Automatic Speech Recognition) = convertir audio en texto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Lo usan Siri, el asistente de Google, Alexa...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Método clásico: MFCC (características del sonido por frecuencia)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Moderno: combinar redes profundas (DNN)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OJO: en esta clase es teoría, NO hay práctica de esto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Del audio a la onda y al espectrograma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La onda (amplitud + tiempo) es difícil de trabajar directamente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Mejor representación: el espectrograma (tiempo + frecuencia)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Conversión onda → espectrograma: transformada de Fourier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El espectrograma es lo que entra al modelo</a:t>
            </a:r>
          </a:p>
        </p:txBody>
      </p:sp>
      <p:pic>
        <p:nvPicPr>
          <p:cNvPr id="4" name="Picture 3" descr="spectr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541" y="2560320"/>
            <a:ext cx="5104916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El proceso ASR: del audio al 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Paso 1 · Feature Extraction: onda → espectrograma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Paso 2 · Modelo acústico: qué sonido/letra en cada instante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Paso 3 · Decodificación: probabilidades → texto final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La salida del modelo es un conjunto de probabilidades</a:t>
            </a:r>
          </a:p>
        </p:txBody>
      </p:sp>
      <p:pic>
        <p:nvPicPr>
          <p:cNvPr id="4" name="Picture 3" descr="pipeline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77889"/>
            <a:ext cx="8138160" cy="17137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Tipologías de arquitecturas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Alimentar una RNN con el espectrograma, instante a instante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RNN + TimeDistributed Dense: asegura la linealidad temporal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Apilar varias RNN para más capacidad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CNN + RNN: la CNN 've' el espectrograma, la RNN lo ordena</a:t>
            </a:r>
          </a:p>
        </p:txBody>
      </p:sp>
      <p:pic>
        <p:nvPicPr>
          <p:cNvPr id="4" name="Picture 3" descr="cnn_r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606" y="2560320"/>
            <a:ext cx="5676786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417320"/>
            <a:ext cx="6583680" cy="1920240"/>
          </a:xfrm>
          <a:prstGeom prst="rect">
            <a:avLst/>
          </a:prstGeom>
          <a:solidFill>
            <a:srgbClr val="FF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6035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2A"/>
                </a:solidFill>
                <a:latin typeface="Calibri"/>
              </a:rPr>
              <a:t>PARTE 3</a:t>
            </a:r>
          </a:p>
          <a:p>
            <a:r>
              <a:rPr sz="2600" b="1">
                <a:solidFill>
                  <a:srgbClr val="1A1A2A"/>
                </a:solidFill>
                <a:latin typeface="Calibri"/>
              </a:rPr>
              <a:t>Notebook 14 · Análisis de Sentimiento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Análisis de Sentimiento con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Objetivo: crítica de cine → positiva o negativa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Dataset IMDb: 50.000 críticas (balanceado 50/50)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Lo haremos 2 veces: clásico (Bag of Words) y Deep Learning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Veremos POR QUÉ las redes cambiaron el NLP</a:t>
            </a:r>
          </a:p>
        </p:txBody>
      </p:sp>
      <p:pic>
        <p:nvPicPr>
          <p:cNvPr id="4" name="Picture 3" descr="many_to_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186" y="2560320"/>
            <a:ext cx="4035626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Mirar los datos antes de modelar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8229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Regla de oro: nunca entrenes sobre datos que no has mirado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Críticas reales: coloquiales, con HTML (&lt;br /&gt;), sarcasmo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Word clouds: palabras frecuentes por sentimiento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Ley de Zipf: pocas palabras concentran casi todo el uso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De texto sucio a tokens limpios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1) Quitar HTML  2) minúsculas + solo letras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3) Tokenizar  4) Quitar stopwords  5) Stemming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Stemming: 'running','runs' → 'run'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Es el corazón del NLP clásico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14401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text  = BeautifulSoup(review, 'html5lib').get_text()   # 1. fuera HTML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text  = re.sub(r'[^a-zA-Z0-9]', ' ', text.lower())     # 2. minusculas + solo letras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words = text.split()                                   # 3. tokenizar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words = [w for w in words if w not in stopwords]       # 4. quitar stopwords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words = [PorterStemmer().stem(w) for w in words]       # 5. stemming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Bag of Words: la primera forma de texto a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Vocabulario con las 5000 palabras más frecuentes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Cada crítica = vector de 5000 números (conteos)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Se normaliza (críticas largas no deben 'pesar' más)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Limitación: ignora el ORDEN y el SIGNIFICADO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97383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vocabulario = [movi, good, bad, great, ...]   # 5000 palabras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'good good bad' -&gt; [0, 2, 1, 0, ...]          # conteos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# CountVectorizer(max_features=5000) lo hace por nosotros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Baseline clásico: Gradient Boosting (79%)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Baseline = modelo simple de referencia que hay que BATIR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Gradient Boosting sobre los vectores BoW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Resultado: ~79,1% de acierto en test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Si una red carísima no supera esto, algo va 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120700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from sklearn.ensemble import GradientBoostingClassifier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clf = GradientBoostingClassifier(n_estimators=32, max_depth=1)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clf.fit(X_train, y_train)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# Accuracy test ~ 0.791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Por qué pasar a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8229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BoW no entiende el ORDEN → 'not good' ~ 'good'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BoW no entiende el SIGNIFICADO → 'good' y 'great' sin relación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Idea 1: Embeddings (vectores densos que SE APRENDEN)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Idea 2: RNN que leen en secuencia (memoria)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Padding: igualar la longitud de las críticas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Las RNN necesitan que todas las secuencias midan igual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Crítica media ~239 palabras; la más larga ~2494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Elegimos 500: cubre la mayoría sin malgastar memoria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Cortas → se rellenan con ceros; largas → se recortan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14401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from tensorflow.keras.utils import pad_sequences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max_words = 500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X_train = pad_sequences(X_train, maxlen=max_words)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X_test  = pad_sequences(X_test,  maxlen=max_words)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# X_train queda como matriz 25000 x 500, lista para la 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La arquitectura: Embedding + LSTM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Capa 1 Embedding: palabra (entero) → vector de 32 números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Capa 2 LSTM(100): lee la secuencia con memoria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Capa 3 Dense(1, sigmoid): decide positivo/negativo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La sigmoide da un número entre 0 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19065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from keras.models import Sequential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from keras.layers import Embedding, LSTM, Dense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 = Sequential()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model.add(Embedding(vocabulary_size, 32, input_length=max_words))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model.add(LSTM(100))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model.add(Dense(1, activation='sigmoid'))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Compilar y entrenar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loss='binary_crossentropy' (clasificación de 2 clases)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optimizer='adam' (ajusta los pesos)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batch_size=64, epochs=1 (en clase, por agilidad)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validation_data: vigila el overfitting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167335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model.compile(loss='binary_crossentropy',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             optimizer='adam', metrics=['accuracy'])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model.fit(X_train2, y_train2,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         validation_data=(X_valid, y_valid),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         batch_size=64, epochs=1)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El experimento clave: LSTM vs GRU vs SimpleRNN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Embedding + LSTM:  ~82,9%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Embedding + GRU:   ~84,3%  (el mejor)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SimpleRNN:         ~69%  (¡PEOR que el baseline 79%!)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La arquitectura importa: las puertas marcan la diferencia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97383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model.add(LSTM(100))        # ~82,9%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model.add(GRU(100))         # ~84,3%  (mejor)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model.add(SimpleRNN(100))   # ~69%    (peor que el baseline)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word2vec: embeddings preentrenados (congelados)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word2vec aprende vectores mirando qué palabras van juntas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Vectores de 300 dimensiones, ya entrenados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trainable=False: se CONGELAN (no se tocan al entrenar)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Aquí NO mejoró: con muchos datos, aprenderlos ya iba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14401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embedding_layer = Embedding(vocab, 300,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                           weights=[embedding_matrix],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                           trainable=False)   # CONGELADO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model.add(embedding_layer)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model.add(LSTM(100, dropout=0.2))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Marcador final del Notebook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8229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Gradient Boosting (BoW): 79,1%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SimpleRNN: 69%  |  LSTM: 82,9%  |  GRU: 84,3%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word2vec + LSTM: ~73-76%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Ganador: Embedding + GRU aprendido desde cero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417320"/>
            <a:ext cx="6583680" cy="1920240"/>
          </a:xfrm>
          <a:prstGeom prst="rect">
            <a:avLst/>
          </a:prstGeom>
          <a:solidFill>
            <a:srgbClr val="FF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6035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2A"/>
                </a:solidFill>
                <a:latin typeface="Calibri"/>
              </a:rPr>
              <a:t>PARTE 4</a:t>
            </a:r>
          </a:p>
          <a:p>
            <a:r>
              <a:rPr sz="2600" b="1">
                <a:solidFill>
                  <a:srgbClr val="1A1A2A"/>
                </a:solidFill>
                <a:latin typeface="Calibri"/>
              </a:rPr>
              <a:t>Notebook 15 · Traducción Automática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Traducción Automática con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Objetivo: traducir frases (inglés → francés)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Dataset: Europarl (actas del Parlamento Europeo)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La salida ya NO es una clase: es OTRA secuencia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Es el caso muchos-a-muchos</a:t>
            </a:r>
          </a:p>
        </p:txBody>
      </p:sp>
      <p:pic>
        <p:nvPicPr>
          <p:cNvPr id="4" name="Picture 3" descr="many_to_m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560320"/>
            <a:ext cx="429768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Preparar los datos para traducir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Tokenizar por separado inglés y francés (vocabularios distintos)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Padding: igualar longitudes (como en el NB14)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Un tokenizador por idioma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Reshape para que entre en la RNN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19065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def tokenize(x):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   t = Tokenizer()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   t.fit_on_texts(x)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   return t.texts_to_sequences(x), t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def pad(x, length=None):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   return pad_sequences(x, maxlen=length, padding='post')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Modelo 1: RNN + TimeDistributed Dense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Una RNN devuelve una salida en CADA instante (return_sequences=True)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TimeDistributed(Dense): la misma capa aplicada en cada instante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softmax: probabilidades de cada palabra de salida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Es el patrón base de la traducción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97383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rnn    = LSTM(100, return_sequences=True)(input_seq)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logits = TimeDistributed(Dense(french_vocab_size))(rnn)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model  = Model(input_seq, Activation('softmax')(logits))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Mejoras: Embedding y Bidireccional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Modelo 2: añadir Embedding antes de la GRU (significado)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Modelo 3: GRU Bidireccional (lee en los dos sentidos)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Bi = más contexto: izquierda→derecha y derecha→izquierda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Misma base, mejoras incrementales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7863840" cy="167335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73152" bIns="54864"/>
          <a:lstStyle/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# Modelo 2: Embedding + GRU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x = Embedding(english_vocab_size, 256)(input_seq)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x = GRU(100, return_sequences=True)(x)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# Modelo 3: GRU Bidireccional</a:t>
            </a:r>
          </a:p>
          <a:p>
            <a:pPr algn="l"/>
            <a:r>
              <a:rPr sz="1000">
                <a:solidFill>
                  <a:srgbClr val="ECECEC"/>
                </a:solidFill>
                <a:latin typeface="Consolas"/>
              </a:rPr>
              <a:t>x = Bidirectional(GRU(100, return_sequences=True))(input_seq)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Modelo 4: seq2seq Encoder-Decoder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Encoder: lee TODA la frase y la resume en un estado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Decoder: a partir de ese resumen, genera la traducción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RepeatVector conecta encoder y decoder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A3F4C"/>
                </a:solidFill>
                <a:latin typeface="Calibri"/>
              </a:rPr>
              <a:t>•  Es la arquitectura de los traductores modernos</a:t>
            </a:r>
          </a:p>
        </p:txBody>
      </p:sp>
      <p:pic>
        <p:nvPicPr>
          <p:cNvPr id="4" name="Picture 3" descr="seq2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552" y="2560320"/>
            <a:ext cx="5012895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530352"/>
            <a:ext cx="8503920" cy="868680"/>
          </a:xfrm>
        </p:spPr>
        <p:txBody>
          <a:bodyPr wrap="square"/>
          <a:lstStyle/>
          <a:p>
            <a:r>
              <a:rPr>
                <a:solidFill>
                  <a:srgbClr val="1A1A2A"/>
                </a:solidFill>
              </a:rPr>
              <a:t>Lo que nos llevamos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8229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Texto → números (tokens + embeddings), siempre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El ORDEN importa: por eso usamos RNN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LSTM/GRU &gt; RNN simple (resuelven el gradiente que se desvanece)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muchos-a-uno = sentimiento; muchos-a-muchos = traducción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3A3F4C"/>
                </a:solidFill>
                <a:latin typeface="Calibri"/>
              </a:rPr>
              <a:t>•  Atención → Transformers → IA moderna (siguiente paso)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