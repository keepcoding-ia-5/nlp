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Retícula Azul" type="secHead">
  <p:cSld name="SECTION_HEADER">
    <p:bg>
      <p:bgPr>
        <a:solidFill>
          <a:srgbClr val="1D1D3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Azul">
  <p:cSld name="SECTION_HEADER_1">
    <p:bg>
      <p:bgPr>
        <a:solidFill>
          <a:srgbClr val="1D1D3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V1" type="tx">
  <p:cSld name="TITLE_AND_BODY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V2">
  <p:cSld name="TITLE_AND_BODY_1">
    <p:bg>
      <p:bgPr>
        <a:solidFill>
          <a:srgbClr val="1D1D3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1D1D3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1D1D3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b="1" sz="2200">
                <a:solidFill>
                  <a:srgbClr val="161625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blanca">
  <p:cSld name="MAIN_POINT">
    <p:bg>
      <p:bgPr>
        <a:solidFill>
          <a:srgbClr val="1D1D3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amarilla">
  <p:cSld name="MAIN_POINT_1">
    <p:bg>
      <p:bgPr>
        <a:solidFill>
          <a:srgbClr val="1D1D3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sz="5200" b="1">
                <a:solidFill>
                  <a:srgbClr val="FFFFFF"/>
                </a:solidFill>
              </a:rPr>
              <a:t>Natural Language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r>
              <a:rPr sz="2400" b="0">
                <a:solidFill>
                  <a:srgbClr val="FF743B"/>
                </a:solidFill>
              </a:rPr>
              <a:t>Clase 6 · NLP &amp; Searching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3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62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743B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2700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204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5E5EA"/>
                </a:solidFill>
              </a:rPr>
              <a:t>Qué es NLG, dónde encaja, tipos y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2000" y="162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743B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2000" y="2700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Modelos clásicos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2000" y="3204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5E5EA"/>
                </a:solidFill>
              </a:rPr>
              <a:t>HMM y RNN/LSTM como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6000" y="162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743B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2700000"/>
            <a:ext cx="25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Transformers + HF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3204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5E5EA"/>
                </a:solidFill>
              </a:rPr>
              <a:t>Self-attention, GPT-2 y Hugging 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¿Qué es NLG?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Generación de frases coherentes en lenguaje natural a partir de una entrada.</a:t>
            </a:r>
          </a:p>
          <a:p>
            <a:pPr/>
            <a:r>
              <a:rPr sz="1300">
                <a:solidFill>
                  <a:srgbClr val="1D1D30"/>
                </a:solidFill>
              </a:rPr>
              <a:t>El modelo escribe; no necesariamente "lee" en sentido humano.</a:t>
            </a:r>
          </a:p>
          <a:p>
            <a:pPr/>
            <a:r>
              <a:rPr sz="1300">
                <a:solidFill>
                  <a:srgbClr val="1D1D30"/>
                </a:solidFill>
              </a:rPr>
              <a:t>Antes de escribir hay que entender: NLU convierte el dato no estructurado en algo que el modelo procesa, NLG lo devuelve a lenguaje.</a:t>
            </a:r>
          </a:p>
          <a:p>
            <a:pPr/>
            <a:r>
              <a:rPr sz="1300">
                <a:solidFill>
                  <a:srgbClr val="1D1D30"/>
                </a:solidFill>
              </a:rPr>
              <a:t>Cubre resumen, traducción, chatbots, code generation y respuestas a preguntas.</a:t>
            </a:r>
          </a:p>
        </p:txBody>
      </p:sp>
      <p:pic>
        <p:nvPicPr>
          <p:cNvPr id="4" name="Picture 3" descr="diag_n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13572"/>
            <a:ext cx="3851999" cy="1624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NLP = NLU + NLG</a:t>
            </a:r>
          </a:p>
        </p:txBody>
      </p:sp>
      <p:pic>
        <p:nvPicPr>
          <p:cNvPr id="3" name="Picture 2" descr="slide0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35" y="1620000"/>
            <a:ext cx="6439929" cy="2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4464000"/>
            <a:ext cx="806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1D1D30"/>
                </a:solidFill>
              </a:rPr>
              <a:t>NLU entiende la entrada · NLG produce la salida en lenguaje natural.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NLG: tipos y aplicaciones</a:t>
            </a:r>
          </a:p>
        </p:txBody>
      </p:sp>
      <p:pic>
        <p:nvPicPr>
          <p:cNvPr id="3" name="Picture 2" descr="slide05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2285217"/>
            <a:ext cx="6840000" cy="1369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4464000"/>
            <a:ext cx="806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1D1D30"/>
                </a:solidFill>
              </a:rPr>
              <a:t>Conditional, open-ended, data-to-text, image-to-text · chatbots, resumen, traducción, code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Cómo se evalúa la generación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BLEU — solapamiento de n-gramas con la referencia humana. Estándar histórico en traducción.</a:t>
            </a:r>
          </a:p>
          <a:p>
            <a:pPr/>
            <a:r>
              <a:rPr sz="1300">
                <a:solidFill>
                  <a:srgbClr val="1D1D30"/>
                </a:solidFill>
              </a:rPr>
              <a:t>ROUGE — recall sobre n-gramas y subsecuencias. Dominante en resumen.</a:t>
            </a:r>
          </a:p>
          <a:p>
            <a:pPr/>
            <a:r>
              <a:rPr sz="1300">
                <a:solidFill>
                  <a:srgbClr val="1D1D30"/>
                </a:solidFill>
              </a:rPr>
              <a:t>METEOR — combina precisión y recall e incorpora sinónimos y stemming.</a:t>
            </a:r>
          </a:p>
          <a:p>
            <a:pPr/>
            <a:r>
              <a:rPr sz="1300">
                <a:solidFill>
                  <a:srgbClr val="1D1D30"/>
                </a:solidFill>
              </a:rPr>
              <a:t>BERTScore — similitud semántica entre embeddings contextuales. Tolera paráfrasis.</a:t>
            </a:r>
          </a:p>
          <a:p>
            <a:pPr/>
            <a:r>
              <a:rPr sz="1300">
                <a:solidFill>
                  <a:srgbClr val="1D1D30"/>
                </a:solidFill>
              </a:rPr>
              <a:t>Evaluación humana — sigue siendo el juez para coherencia, factualidad y estilo.</a:t>
            </a:r>
          </a:p>
        </p:txBody>
      </p:sp>
      <p:pic>
        <p:nvPicPr>
          <p:cNvPr id="4" name="Picture 3" descr="dia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16188"/>
            <a:ext cx="3851999" cy="1619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0"/>
            <a:ext cx="8064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Modelos clásicos de NLG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Hidden Markov Model (HMM)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Modelo probabilístico para procesos en los que sólo vemos observaciones y predecimos el siguiente estado.</a:t>
            </a:r>
          </a:p>
          <a:p>
            <a:pPr/>
            <a:r>
              <a:rPr sz="1300">
                <a:solidFill>
                  <a:srgbClr val="1D1D30"/>
                </a:solidFill>
              </a:rPr>
              <a:t>Cada nodo del grafo es una palabra; las aristas son P(palabra siguiente | palabra actual).</a:t>
            </a:r>
          </a:p>
          <a:p>
            <a:pPr/>
            <a:r>
              <a:rPr sz="1300">
                <a:solidFill>
                  <a:srgbClr val="1D1D30"/>
                </a:solidFill>
              </a:rPr>
              <a:t>Aplicado a NLG: dada una secuencia parcial, ¿qué token tiene más probabilidad?</a:t>
            </a:r>
          </a:p>
          <a:p>
            <a:pPr/>
            <a:r>
              <a:rPr sz="1300">
                <a:solidFill>
                  <a:srgbClr val="1D1D30"/>
                </a:solidFill>
              </a:rPr>
              <a:t>Limitación: sólo mira la transición inmediata. No captura contexto largo → frases poco coherentes.</a:t>
            </a:r>
          </a:p>
        </p:txBody>
      </p:sp>
      <p:pic>
        <p:nvPicPr>
          <p:cNvPr id="4" name="Picture 3" descr="diag_h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825241"/>
            <a:ext cx="3851999" cy="1801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NLG con HMM</a:t>
            </a:r>
          </a:p>
        </p:txBody>
      </p:sp>
      <p:pic>
        <p:nvPicPr>
          <p:cNvPr id="3" name="Picture 2" descr="slide07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065" y="1620000"/>
            <a:ext cx="3483870" cy="2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4464000"/>
            <a:ext cx="806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1D1D30"/>
                </a:solidFill>
              </a:rPr>
              <a:t>Cada nodo = token del vocabulario; las aristas codifican P(palabra siguiente | palabra actual).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RNN y LSTM como language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RNN: procesa la secuencia token a token y arrastra un estado oculto.</a:t>
            </a:r>
          </a:p>
          <a:p>
            <a:pPr/>
            <a:r>
              <a:rPr sz="1300">
                <a:solidFill>
                  <a:srgbClr val="1D1D30"/>
                </a:solidFill>
              </a:rPr>
              <a:t>LSTM y GRU añaden puertas que dejan pasar o bloquear información → memoria a más largo plazo.</a:t>
            </a:r>
          </a:p>
          <a:p>
            <a:pPr/>
            <a:r>
              <a:rPr sz="1300">
                <a:solidFill>
                  <a:srgbClr val="1D1D30"/>
                </a:solidFill>
              </a:rPr>
              <a:t>Permiten generar texto razonable carácter a carácter o palabra a palabra (char-RNN de Karpathy).</a:t>
            </a:r>
          </a:p>
          <a:p>
            <a:pPr/>
            <a:r>
              <a:rPr sz="1300">
                <a:solidFill>
                  <a:srgbClr val="1D1D30"/>
                </a:solidFill>
              </a:rPr>
              <a:t>Limitaciones: secuencialidad → entrenamiento lento; contexto efectivo aún limitado.</a:t>
            </a:r>
          </a:p>
        </p:txBody>
      </p:sp>
      <p:pic>
        <p:nvPicPr>
          <p:cNvPr id="4" name="Picture 3" descr="diag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29985"/>
            <a:ext cx="3851999" cy="1592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NLG con LSTM</a:t>
            </a:r>
          </a:p>
        </p:txBody>
      </p:sp>
      <p:pic>
        <p:nvPicPr>
          <p:cNvPr id="3" name="Picture 2" descr="slide08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90" y="1620000"/>
            <a:ext cx="6764620" cy="2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4464000"/>
            <a:ext cx="806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1D1D30"/>
                </a:solidFill>
              </a:rPr>
              <a:t>Salto cualitativo frente a HMM: la celda LSTM acumula contexto a lo largo de la secuencia.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0"/>
            <a:ext cx="8064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Transformers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La arquitectura Transformer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Sustituye la recurrencia por atención: todas las palabras entran en paralelo.</a:t>
            </a:r>
          </a:p>
          <a:p>
            <a:pPr/>
            <a:r>
              <a:rPr sz="1300">
                <a:solidFill>
                  <a:srgbClr val="1D1D30"/>
                </a:solidFill>
              </a:rPr>
              <a:t>Permite paralelizar el entrenamiento → mucho más rápido sobre GPU/TPU.</a:t>
            </a:r>
          </a:p>
          <a:p>
            <a:pPr/>
            <a:r>
              <a:rPr sz="1300">
                <a:solidFill>
                  <a:srgbClr val="1D1D30"/>
                </a:solidFill>
              </a:rPr>
              <a:t>Pila de encoders + pila de decoders. Cada encoder: self-attention + feed-forward.</a:t>
            </a:r>
          </a:p>
          <a:p>
            <a:pPr/>
            <a:r>
              <a:rPr sz="1300">
                <a:solidFill>
                  <a:srgbClr val="1D1D30"/>
                </a:solidFill>
              </a:rPr>
              <a:t>El decoder añade una capa encoder-decoder attention que mira la salida del encoder.</a:t>
            </a:r>
          </a:p>
          <a:p>
            <a:pPr/>
            <a:r>
              <a:rPr sz="1300">
                <a:solidFill>
                  <a:srgbClr val="1D1D30"/>
                </a:solidFill>
              </a:rPr>
              <a:t>Al entrar el corpus de golpe, el modelo aprende contexto completo de cada token.</a:t>
            </a:r>
          </a:p>
        </p:txBody>
      </p:sp>
      <p:pic>
        <p:nvPicPr>
          <p:cNvPr id="4" name="Picture 3" descr="diag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751092"/>
            <a:ext cx="3851999" cy="1949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Self-Attention: Q, K, 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Cada token se proyecta en tres vectores: Q (qué busco), K (qué ofrezco), V (qué aporto).</a:t>
            </a:r>
          </a:p>
          <a:p>
            <a:pPr/>
            <a:r>
              <a:rPr sz="1300">
                <a:solidFill>
                  <a:srgbClr val="1D1D30"/>
                </a:solidFill>
              </a:rPr>
              <a:t>Score = producto escalar Q·K, dividido por √dₖ para estabilizar gradientes.</a:t>
            </a:r>
          </a:p>
          <a:p>
            <a:pPr/>
            <a:r>
              <a:rPr sz="1300">
                <a:solidFill>
                  <a:srgbClr val="1D1D30"/>
                </a:solidFill>
              </a:rPr>
              <a:t>Softmax sobre los scores → pesos entre 0 y 1 que suman 1.</a:t>
            </a:r>
          </a:p>
          <a:p>
            <a:pPr/>
            <a:r>
              <a:rPr sz="1300">
                <a:solidFill>
                  <a:srgbClr val="1D1D30"/>
                </a:solidFill>
              </a:rPr>
              <a:t>Salida = suma de los V ponderada por esos pesos.</a:t>
            </a:r>
          </a:p>
          <a:p>
            <a:pPr/>
            <a:r>
              <a:rPr sz="1300">
                <a:solidFill>
                  <a:srgbClr val="1D1D30"/>
                </a:solidFill>
              </a:rPr>
              <a:t>Cada token "mira" al resto de la frase y prioriza los más relevantes.</a:t>
            </a:r>
          </a:p>
        </p:txBody>
      </p:sp>
      <p:pic>
        <p:nvPicPr>
          <p:cNvPr id="4" name="Picture 3" descr="diag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25535"/>
            <a:ext cx="3851999" cy="1600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Multi-Head Attention y posición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Multi-Head: varias self-attention en paralelo con matrices Q/K/V distintas (cabezas).</a:t>
            </a:r>
          </a:p>
          <a:p>
            <a:pPr/>
            <a:r>
              <a:rPr sz="1300">
                <a:solidFill>
                  <a:srgbClr val="1D1D30"/>
                </a:solidFill>
              </a:rPr>
              <a:t>Cada cabeza aprende un tipo de relación: sujeto-verbo, coreferencia, modificadores…</a:t>
            </a:r>
          </a:p>
          <a:p>
            <a:pPr/>
            <a:r>
              <a:rPr sz="1300">
                <a:solidFill>
                  <a:srgbClr val="1D1D30"/>
                </a:solidFill>
              </a:rPr>
              <a:t>Las cabezas se concatenan y se proyectan → representación más rica.</a:t>
            </a:r>
          </a:p>
          <a:p>
            <a:pPr/>
            <a:r>
              <a:rPr sz="1300">
                <a:solidFill>
                  <a:srgbClr val="1D1D30"/>
                </a:solidFill>
              </a:rPr>
              <a:t>Positional Encoding: se suma al embedding un vector (seno/coseno) que codifica la posición.</a:t>
            </a:r>
          </a:p>
        </p:txBody>
      </p:sp>
      <p:pic>
        <p:nvPicPr>
          <p:cNvPr id="4" name="Picture 3" descr="diag_multi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29985"/>
            <a:ext cx="3851999" cy="15920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GPT-2: decoder-only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GPT-2 elimina el encoder y se queda sólo con una pila de decoders (12 a 48 capas).</a:t>
            </a:r>
          </a:p>
          <a:p>
            <a:pPr/>
            <a:r>
              <a:rPr sz="1300">
                <a:solidFill>
                  <a:srgbClr val="1D1D30"/>
                </a:solidFill>
              </a:rPr>
              <a:t>Su atención es masked self-attention: cada token sólo mira los anteriores, nunca los futuros.</a:t>
            </a:r>
          </a:p>
          <a:p>
            <a:pPr/>
            <a:r>
              <a:rPr sz="1300">
                <a:solidFill>
                  <a:srgbClr val="1D1D30"/>
                </a:solidFill>
              </a:rPr>
              <a:t>Es un modelo autorregresivo: predice el siguiente token paso a paso.</a:t>
            </a:r>
          </a:p>
          <a:p>
            <a:pPr/>
            <a:r>
              <a:rPr sz="1300">
                <a:solidFill>
                  <a:srgbClr val="1D1D30"/>
                </a:solidFill>
              </a:rPr>
              <a:t>Entrada: todo el prompt de golpe. Salida: token a token; cada uno realimenta al siguiente paso.</a:t>
            </a:r>
          </a:p>
          <a:p>
            <a:pPr/>
            <a:r>
              <a:rPr sz="1300">
                <a:solidFill>
                  <a:srgbClr val="1D1D30"/>
                </a:solidFill>
              </a:rPr>
              <a:t>El modelo grande tiene ~1.500 M parámetros, pre-entrenado con corpus masivos de internet.</a:t>
            </a:r>
          </a:p>
        </p:txBody>
      </p:sp>
      <p:pic>
        <p:nvPicPr>
          <p:cNvPr id="4" name="Picture 3" descr="diag_gp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791129"/>
            <a:ext cx="3851999" cy="18697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NLG con GPT-2</a:t>
            </a:r>
          </a:p>
        </p:txBody>
      </p:sp>
      <p:pic>
        <p:nvPicPr>
          <p:cNvPr id="3" name="Picture 2" descr="slide09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29" y="1620000"/>
            <a:ext cx="6802941" cy="2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4464000"/>
            <a:ext cx="806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1D1D30"/>
                </a:solidFill>
              </a:rPr>
              <a:t>Pila de decoders con masked self-attention → generación coherente y con contexto largo.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Transformer, BERT y GPT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Transformer original: pila de encoders + pila de decoders → traducción seq2seq.</a:t>
            </a:r>
          </a:p>
          <a:p>
            <a:pPr/>
            <a:r>
              <a:rPr sz="1300">
                <a:solidFill>
                  <a:srgbClr val="1D1D30"/>
                </a:solidFill>
              </a:rPr>
              <a:t>BERT: pila sólo de encoders, atención bidireccional → embeddings contextuales y clasificación.</a:t>
            </a:r>
          </a:p>
          <a:p>
            <a:pPr/>
            <a:r>
              <a:rPr sz="1300">
                <a:solidFill>
                  <a:srgbClr val="1D1D30"/>
                </a:solidFill>
              </a:rPr>
              <a:t>GPT (1/2/3/4): pila sólo de decoders, atención causal → generación autorregresiva.</a:t>
            </a:r>
          </a:p>
          <a:p>
            <a:pPr/>
            <a:r>
              <a:rPr sz="1300">
                <a:solidFill>
                  <a:srgbClr val="1D1D30"/>
                </a:solidFill>
              </a:rPr>
              <a:t>Misma arquitectura base, distintos objetivos de pre-entrenamiento → distintos usos.</a:t>
            </a:r>
          </a:p>
        </p:txBody>
      </p:sp>
      <p:pic>
        <p:nvPicPr>
          <p:cNvPr id="4" name="Picture 3" descr="diag_bert_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06696"/>
            <a:ext cx="3851999" cy="16386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Estrategias de sampling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Greedy: elegir siempre el token con mayor probabilidad → repetitivo.</a:t>
            </a:r>
          </a:p>
          <a:p>
            <a:pPr/>
            <a:r>
              <a:rPr sz="1300">
                <a:solidFill>
                  <a:srgbClr val="1D1D30"/>
                </a:solidFill>
              </a:rPr>
              <a:t>Beam search: explorar varias secuencias candidatas → bueno en traducción.</a:t>
            </a:r>
          </a:p>
          <a:p>
            <a:pPr/>
            <a:r>
              <a:rPr sz="1300">
                <a:solidFill>
                  <a:srgbClr val="1D1D30"/>
                </a:solidFill>
              </a:rPr>
              <a:t>Top-k: muestrear sólo entre los k tokens más probables.</a:t>
            </a:r>
          </a:p>
          <a:p>
            <a:pPr/>
            <a:r>
              <a:rPr sz="1300">
                <a:solidFill>
                  <a:srgbClr val="1D1D30"/>
                </a:solidFill>
              </a:rPr>
              <a:t>Top-p (nucleus): muestrear entre los que suman probabilidad p.</a:t>
            </a:r>
          </a:p>
          <a:p>
            <a:pPr/>
            <a:r>
              <a:rPr sz="1300">
                <a:solidFill>
                  <a:srgbClr val="1D1D30"/>
                </a:solidFill>
              </a:rPr>
              <a:t>Temperature: aplana (&gt;1) o agudiza (&lt;1) la distribución → controla la creatividad.</a:t>
            </a:r>
          </a:p>
        </p:txBody>
      </p:sp>
      <p:pic>
        <p:nvPicPr>
          <p:cNvPr id="4" name="Picture 3" descr="diag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04681"/>
            <a:ext cx="3851999" cy="1642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0"/>
            <a:ext cx="8064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Hugging 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Hugging Face: la plataforma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Plataforma open source que centraliza miles de modelos Transformer pre-entrenados.</a:t>
            </a:r>
          </a:p>
          <a:p>
            <a:pPr/>
            <a:r>
              <a:rPr sz="1300">
                <a:solidFill>
                  <a:srgbClr val="1D1D30"/>
                </a:solidFill>
              </a:rPr>
              <a:t>Filtra por tarea: text-generation, summarization, translation, question-answering…</a:t>
            </a:r>
          </a:p>
          <a:p>
            <a:pPr/>
            <a:r>
              <a:rPr sz="1300">
                <a:solidFill>
                  <a:srgbClr val="1D1D30"/>
                </a:solidFill>
              </a:rPr>
              <a:t>Cada modelo trae model card con dataset, licencia, ejemplos y comunidad.</a:t>
            </a:r>
          </a:p>
          <a:p>
            <a:pPr/>
            <a:r>
              <a:rPr sz="1300">
                <a:solidFill>
                  <a:srgbClr val="1D1D30"/>
                </a:solidFill>
              </a:rPr>
              <a:t>Datasets, Spaces (demos) y librerías transformers / datasets / accelerate completan el ecosistema.</a:t>
            </a:r>
          </a:p>
          <a:p>
            <a:pPr/>
            <a:r>
              <a:rPr sz="1300">
                <a:solidFill>
                  <a:srgbClr val="1D1D30"/>
                </a:solidFill>
              </a:rPr>
              <a:t>Regla práctica: usa siempre el tokenizador que viene con el modelo.</a:t>
            </a:r>
          </a:p>
        </p:txBody>
      </p:sp>
      <p:pic>
        <p:nvPicPr>
          <p:cNvPr id="4" name="Picture 3" descr="diag_hugging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01835"/>
            <a:ext cx="3851999" cy="16483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Pipelines en una línea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/>
            <a:r>
              <a:rPr sz="1300">
                <a:solidFill>
                  <a:srgbClr val="1D1D30"/>
                </a:solidFill>
              </a:rPr>
              <a:t>text-generation → pipeline('text-generation', model='datificate/gpt2-small-spanish').</a:t>
            </a:r>
          </a:p>
          <a:p>
            <a:pPr/>
            <a:r>
              <a:rPr sz="1300">
                <a:solidFill>
                  <a:srgbClr val="1D1D30"/>
                </a:solidFill>
              </a:rPr>
              <a:t>summarization → pipeline('summarization', model='facebook/bart-large-cnn').</a:t>
            </a:r>
          </a:p>
          <a:p>
            <a:pPr/>
            <a:r>
              <a:rPr sz="1300">
                <a:solidFill>
                  <a:srgbClr val="1D1D30"/>
                </a:solidFill>
              </a:rPr>
              <a:t>translation_en_to_es → pipeline('translation_en_to_es', model='Helsinki-NLP/opus-mt-en-es').</a:t>
            </a:r>
          </a:p>
          <a:p>
            <a:pPr/>
            <a:r>
              <a:rPr sz="1300">
                <a:solidFill>
                  <a:srgbClr val="1D1D30"/>
                </a:solidFill>
              </a:rPr>
              <a:t>question-answering → pipeline('question-answering', model='deepset/xlm-roberta-large-squad2').</a:t>
            </a:r>
          </a:p>
          <a:p>
            <a:pPr/>
            <a:r>
              <a:rPr sz="1300">
                <a:solidFill>
                  <a:srgbClr val="1D1D30"/>
                </a:solidFill>
              </a:rPr>
              <a:t>Sentence Transformers para similitud semántica y, sobre eso, RAG.</a:t>
            </a:r>
          </a:p>
        </p:txBody>
      </p:sp>
      <p:pic>
        <p:nvPicPr>
          <p:cNvPr id="4" name="Picture 3" descr="diag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2943468"/>
            <a:ext cx="3851999" cy="15650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solidFill>
                  <a:srgbClr val="FF743B"/>
                </a:solidFill>
              </a:rPr>
              <a:t>Recursos y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620000"/>
            <a:ext cx="3960000" cy="30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Illustrated Transformer  ·  </a:t>
            </a:r>
            <a:r>
              <a:rPr sz="1100">
                <a:solidFill>
                  <a:srgbClr val="FF743B"/>
                </a:solidFill>
              </a:rPr>
              <a:t>jalammar.github.io/illustrated-transformer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Illustrated GPT-2  ·  </a:t>
            </a:r>
            <a:r>
              <a:rPr sz="1100">
                <a:solidFill>
                  <a:srgbClr val="FF743B"/>
                </a:solidFill>
              </a:rPr>
              <a:t>jalammar.github.io/illustrated-gpt2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Illustrated BERT  ·  </a:t>
            </a:r>
            <a:r>
              <a:rPr sz="1100">
                <a:solidFill>
                  <a:srgbClr val="FF743B"/>
                </a:solidFill>
              </a:rPr>
              <a:t>jalammar.github.io/illustrated-bert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Visual Guide to BERT  ·  </a:t>
            </a:r>
            <a:r>
              <a:rPr sz="1100">
                <a:solidFill>
                  <a:srgbClr val="FF743B"/>
                </a:solidFill>
              </a:rPr>
              <a:t>jalammar.github.io/a-visual-guide-to-using-bert-for-the-first-time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0000" y="1620000"/>
            <a:ext cx="3960000" cy="30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Demo en vivo GPT-2 Large  ·  </a:t>
            </a:r>
            <a:r>
              <a:rPr sz="1100">
                <a:solidFill>
                  <a:srgbClr val="FF743B"/>
                </a:solidFill>
              </a:rPr>
              <a:t>banana-projects-transformer-autocomplete.hf.space/doc/gpt2-large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HF · docs GPT-2  ·  </a:t>
            </a:r>
            <a:r>
              <a:rPr sz="1100">
                <a:solidFill>
                  <a:srgbClr val="FF743B"/>
                </a:solidFill>
              </a:rPr>
              <a:t>huggingface.co/docs/transformers/main/en/model_doc/gpt2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D1D30"/>
                </a:solidFill>
              </a:rPr>
              <a:t>Comunidad SomosNLP  ·  </a:t>
            </a:r>
            <a:r>
              <a:rPr sz="1100">
                <a:solidFill>
                  <a:srgbClr val="FF743B"/>
                </a:solidFill>
              </a:rPr>
              <a:t>somosnlp.org/eventos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